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6" r:id="rId5"/>
    <p:sldId id="261" r:id="rId6"/>
    <p:sldId id="262" r:id="rId7"/>
    <p:sldId id="263" r:id="rId8"/>
    <p:sldId id="264" r:id="rId9"/>
    <p:sldId id="265" r:id="rId10"/>
    <p:sldId id="274" r:id="rId11"/>
    <p:sldId id="275" r:id="rId12"/>
    <p:sldId id="276" r:id="rId13"/>
    <p:sldId id="277" r:id="rId14"/>
    <p:sldId id="278" r:id="rId15"/>
    <p:sldId id="279" r:id="rId16"/>
    <p:sldId id="267" r:id="rId17"/>
    <p:sldId id="269" r:id="rId18"/>
    <p:sldId id="268" r:id="rId19"/>
    <p:sldId id="270" r:id="rId20"/>
    <p:sldId id="271" r:id="rId21"/>
    <p:sldId id="272" r:id="rId22"/>
  </p:sldIdLst>
  <p:sldSz cx="12192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5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pl-PL"/>
          </a:p>
        </p:txBody>
      </p:sp>
      <p:sp>
        <p:nvSpPr>
          <p:cNvPr id="3" name="Symbol zastępczy daty 2"/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42FC5BA0-DC7A-4CBE-95F0-B1D884DD14CD}" type="datetime1">
              <a:rPr lang="pl-PL"/>
              <a:pPr lvl="0"/>
              <a:t>26.05.2025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Symbol zastępczy notatek 4"/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/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pl-PL"/>
          </a:p>
        </p:txBody>
      </p:sp>
      <p:sp>
        <p:nvSpPr>
          <p:cNvPr id="7" name="Symbol zastępczy numeru slajdu 6"/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/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F301A242-DEB5-4200-8D63-0482F812F723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5104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/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C282CC7-68E2-4968-A9B5-7CF2250173CC}" type="slidenum">
              <a:t>17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/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8B4C5D-8E72-40E1-9588-7DFB04F5ADB7}" type="slidenum">
              <a:t>19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/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8E1E6A2-0AF8-46A0-B1B5-36C114FD3733}" type="slidenum">
              <a:t>20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>
            <a:off x="1600200" y="2386739"/>
            <a:ext cx="8991596" cy="1645920"/>
          </a:xfrm>
          <a:solidFill>
            <a:srgbClr val="FFFFFF"/>
          </a:solidFill>
          <a:ln w="38103">
            <a:solidFill>
              <a:srgbClr val="404040"/>
            </a:solidFill>
            <a:prstDash val="solid"/>
            <a:miter/>
          </a:ln>
        </p:spPr>
        <p:txBody>
          <a:bodyPr lIns="274320" rIns="274320"/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pPr lvl="0"/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08" cy="1239889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1D7D2D-EDDD-4BA3-B9C4-8128D9E44CF6}" type="datetime1">
              <a:rPr lang="pl-PL"/>
              <a:pPr lvl="0"/>
              <a:t>26.05.2025</a:t>
            </a:fld>
            <a:endParaRPr lang="pl-PL"/>
          </a:p>
        </p:txBody>
      </p:sp>
      <p:sp>
        <p:nvSpPr>
          <p:cNvPr id="5" name="Footer Placeholder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6" name="Slide Number Placeholder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67F437-B5CF-4E59-BB57-F9765DDCD14D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9349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D98C74-1F20-49DD-8237-FEFD77F796BE}" type="datetime1">
              <a:rPr lang="pl-PL"/>
              <a:pPr lvl="0"/>
              <a:t>26.05.2025</a:t>
            </a:fld>
            <a:endParaRPr lang="pl-PL"/>
          </a:p>
        </p:txBody>
      </p:sp>
      <p:sp>
        <p:nvSpPr>
          <p:cNvPr id="5" name="Footer Placeholder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6" name="Slide Number Placeholder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E77A7B-053C-4BE7-8C06-CFA2B5E77244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6126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1600200" y="2386739"/>
            <a:ext cx="8991596" cy="1645920"/>
          </a:xfrm>
          <a:solidFill>
            <a:srgbClr val="FFFFFF"/>
          </a:solidFill>
          <a:ln w="38103">
            <a:solidFill>
              <a:srgbClr val="404040"/>
            </a:solidFill>
            <a:prstDash val="solid"/>
            <a:miter/>
          </a:ln>
        </p:spPr>
        <p:txBody>
          <a:bodyPr lIns="274320" rIns="274320"/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pPr lvl="0"/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2695194" y="4352461"/>
            <a:ext cx="6801608" cy="1265081"/>
          </a:xfrm>
        </p:spPr>
        <p:txBody>
          <a:bodyPr anchorCtr="1"/>
          <a:lstStyle>
            <a:lvl1pPr marL="0" indent="0">
              <a:buNone/>
              <a:defRPr sz="2000"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F6E79B-D5CC-46BF-967C-A2C043D3D781}" type="datetime1">
              <a:rPr lang="pl-PL"/>
              <a:pPr lvl="0"/>
              <a:t>26.05.2025</a:t>
            </a:fld>
            <a:endParaRPr lang="pl-PL"/>
          </a:p>
        </p:txBody>
      </p:sp>
      <p:sp>
        <p:nvSpPr>
          <p:cNvPr id="5" name="Footer Placeholder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6" name="Slide Number Placeholder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519FC2B-9BD5-46F3-9F56-DD5C25BDEB85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3510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1581912" y="2638044"/>
            <a:ext cx="4271775" cy="31019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6338319" y="2638044"/>
            <a:ext cx="4270248" cy="31019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Date Placeholder 7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8C3958-409E-4ECA-975A-F239B767EDBD}" type="datetime1">
              <a:rPr lang="pl-PL"/>
              <a:pPr lvl="0"/>
              <a:t>26.05.2025</a:t>
            </a:fld>
            <a:endParaRPr lang="pl-PL"/>
          </a:p>
        </p:txBody>
      </p:sp>
      <p:sp>
        <p:nvSpPr>
          <p:cNvPr id="6" name="Footer Placeholder 8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7" name="Slide Number Placeholder 9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00BEF3-32EB-4D84-BE76-AF35ECB063AE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8046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 txBox="1">
            <a:spLocks noGrp="1"/>
          </p:cNvSpPr>
          <p:nvPr>
            <p:ph type="body" idx="1"/>
          </p:nvPr>
        </p:nvSpPr>
        <p:spPr>
          <a:xfrm>
            <a:off x="1583439" y="2313432"/>
            <a:ext cx="4270248" cy="704088"/>
          </a:xfrm>
        </p:spPr>
        <p:txBody>
          <a:bodyPr anchor="b" anchorCtr="1"/>
          <a:lstStyle>
            <a:lvl1pPr marL="0" indent="0" algn="ctr">
              <a:buNone/>
              <a:defRPr sz="1900" cap="all" spc="100">
                <a:solidFill>
                  <a:srgbClr val="00B0F0"/>
                </a:solidFill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Content Placeholder 3"/>
          <p:cNvSpPr txBox="1">
            <a:spLocks noGrp="1"/>
          </p:cNvSpPr>
          <p:nvPr>
            <p:ph idx="2"/>
          </p:nvPr>
        </p:nvSpPr>
        <p:spPr>
          <a:xfrm>
            <a:off x="1583439" y="3143250"/>
            <a:ext cx="4270248" cy="259677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5"/>
          <p:cNvSpPr txBox="1">
            <a:spLocks noGrp="1"/>
          </p:cNvSpPr>
          <p:nvPr>
            <p:ph idx="4"/>
          </p:nvPr>
        </p:nvSpPr>
        <p:spPr>
          <a:xfrm>
            <a:off x="6338319" y="3143250"/>
            <a:ext cx="4253487" cy="259677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3"/>
          </p:nvPr>
        </p:nvSpPr>
        <p:spPr>
          <a:xfrm>
            <a:off x="6338319" y="2313432"/>
            <a:ext cx="4270248" cy="704088"/>
          </a:xfrm>
        </p:spPr>
        <p:txBody>
          <a:bodyPr anchor="b" anchorCtr="1"/>
          <a:lstStyle>
            <a:lvl1pPr marL="0" indent="0" algn="ctr">
              <a:buNone/>
              <a:defRPr sz="1900" cap="all" spc="100">
                <a:solidFill>
                  <a:srgbClr val="00B0F0"/>
                </a:solidFill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Date Placeholder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5221C8-1B4D-4733-81F0-BBB2FA95CEA5}" type="datetime1">
              <a:rPr lang="pl-PL"/>
              <a:pPr lvl="0"/>
              <a:t>26.05.2025</a:t>
            </a:fld>
            <a:endParaRPr lang="pl-PL"/>
          </a:p>
        </p:txBody>
      </p:sp>
      <p:sp>
        <p:nvSpPr>
          <p:cNvPr id="7" name="Footer Placeholder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8" name="Slide Number Placeholder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10327E-1F8A-4782-A764-E6CD3D0AA436}" type="slidenum">
              <a:t>‹#›</a:t>
            </a:fld>
            <a:endParaRPr lang="pl-PL"/>
          </a:p>
        </p:txBody>
      </p:sp>
      <p:sp>
        <p:nvSpPr>
          <p:cNvPr id="9" name="Title 9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pl-PL"/>
              <a:t>Kliknij, aby edytować styl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68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A3A1300-7D5B-4962-8717-FA00C67C2F02}" type="datetime1">
              <a:rPr lang="pl-PL"/>
              <a:pPr lvl="0"/>
              <a:t>26.05.2025</a:t>
            </a:fld>
            <a:endParaRPr lang="pl-PL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FB56452-A5C4-4C6D-8BF8-D08C15747024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24734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BE2C1B-58E6-4BE5-8349-E37B3A9D0040}" type="datetime1">
              <a:rPr lang="pl-PL"/>
              <a:pPr lvl="0"/>
              <a:t>26.05.2025</a:t>
            </a:fld>
            <a:endParaRPr lang="pl-PL"/>
          </a:p>
        </p:txBody>
      </p:sp>
      <p:sp>
        <p:nvSpPr>
          <p:cNvPr id="3" name="Footer Placeholder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E1F814F-70BC-418F-84F9-686F5F91AAB9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48416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"/>
          <p:cNvSpPr/>
          <p:nvPr/>
        </p:nvSpPr>
        <p:spPr>
          <a:xfrm>
            <a:off x="0" y="0"/>
            <a:ext cx="6096003" cy="6858000"/>
          </a:xfrm>
          <a:prstGeom prst="rect">
            <a:avLst/>
          </a:prstGeom>
          <a:solidFill>
            <a:srgbClr val="00B0F0"/>
          </a:solidFill>
          <a:ln>
            <a:noFill/>
            <a:prstDash val="solid"/>
          </a:ln>
        </p:spPr>
        <p:txBody>
          <a:bodyPr lIns="0" tIns="0" rIns="0" bIns="0"/>
          <a:lstStyle/>
          <a:p>
            <a:endParaRPr lang="pl-PL"/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804672" y="2243827"/>
            <a:ext cx="4486659" cy="1141500"/>
          </a:xfrm>
          <a:solidFill>
            <a:srgbClr val="FFFFFF"/>
          </a:solidFill>
          <a:ln w="31747">
            <a:solidFill>
              <a:srgbClr val="404040"/>
            </a:solidFill>
            <a:prstDash val="solid"/>
            <a:miter/>
          </a:ln>
        </p:spPr>
        <p:txBody>
          <a:bodyPr/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pPr lvl="0"/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Content Placeholder 2"/>
          <p:cNvSpPr txBox="1">
            <a:spLocks noGrp="1"/>
          </p:cNvSpPr>
          <p:nvPr>
            <p:ph idx="1"/>
          </p:nvPr>
        </p:nvSpPr>
        <p:spPr>
          <a:xfrm>
            <a:off x="6736083" y="804672"/>
            <a:ext cx="4815843" cy="5248656"/>
          </a:xfrm>
        </p:spPr>
        <p:txBody>
          <a:bodyPr/>
          <a:lstStyle>
            <a:lvl1pPr>
              <a:defRPr sz="19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3"/>
          <p:cNvSpPr txBox="1">
            <a:spLocks noGrp="1"/>
          </p:cNvSpPr>
          <p:nvPr>
            <p:ph type="body" idx="2"/>
          </p:nvPr>
        </p:nvSpPr>
        <p:spPr>
          <a:xfrm>
            <a:off x="1115568" y="3549920"/>
            <a:ext cx="3794759" cy="2194038"/>
          </a:xfrm>
        </p:spPr>
        <p:txBody>
          <a:bodyPr anchorCtr="1"/>
          <a:lstStyle>
            <a:lvl1pPr marL="0" indent="0" algn="ctr">
              <a:buNone/>
              <a:defRPr sz="1500"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Date Placeholder 8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6D5FFD-19E0-468F-882A-4346EF26D524}" type="datetime1">
              <a:rPr lang="pl-PL"/>
              <a:pPr lvl="0"/>
              <a:t>26.05.2025</a:t>
            </a:fld>
            <a:endParaRPr lang="pl-PL"/>
          </a:p>
        </p:txBody>
      </p:sp>
      <p:sp>
        <p:nvSpPr>
          <p:cNvPr id="7" name="Footer Placeholder 9"/>
          <p:cNvSpPr txBox="1">
            <a:spLocks noGrp="1"/>
          </p:cNvSpPr>
          <p:nvPr>
            <p:ph type="ftr" sz="quarter" idx="9"/>
          </p:nvPr>
        </p:nvSpPr>
        <p:spPr>
          <a:xfrm>
            <a:off x="804672" y="6236207"/>
            <a:ext cx="5124800" cy="32004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8" name="Slide Number Placeholder 10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AC2F00-55EE-4E63-AD3D-CD8CFA2F27E8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0201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/>
          <p:nvPr/>
        </p:nvSpPr>
        <p:spPr>
          <a:xfrm>
            <a:off x="0" y="0"/>
            <a:ext cx="6096003" cy="6858000"/>
          </a:xfrm>
          <a:prstGeom prst="rect">
            <a:avLst/>
          </a:prstGeom>
          <a:solidFill>
            <a:srgbClr val="00B0F0"/>
          </a:solidFill>
          <a:ln>
            <a:noFill/>
            <a:prstDash val="solid"/>
          </a:ln>
        </p:spPr>
        <p:txBody>
          <a:bodyPr lIns="0" tIns="0" rIns="0" bIns="0"/>
          <a:lstStyle/>
          <a:p>
            <a:endParaRPr lang="pl-PL"/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808521" y="2243827"/>
            <a:ext cx="4494998" cy="1134642"/>
          </a:xfrm>
          <a:solidFill>
            <a:srgbClr val="FFFFFF"/>
          </a:solidFill>
          <a:ln w="31747">
            <a:solidFill>
              <a:srgbClr val="404040"/>
            </a:solidFill>
            <a:prstDash val="solid"/>
            <a:miter/>
          </a:ln>
        </p:spPr>
        <p:txBody>
          <a:bodyPr/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pPr lvl="0"/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Picture Placeholder 2"/>
          <p:cNvSpPr txBox="1">
            <a:spLocks noGrp="1"/>
          </p:cNvSpPr>
          <p:nvPr>
            <p:ph type="pic" idx="1"/>
          </p:nvPr>
        </p:nvSpPr>
        <p:spPr>
          <a:xfrm>
            <a:off x="6096003" y="0"/>
            <a:ext cx="6102092" cy="6858000"/>
          </a:xfrm>
          <a:solidFill>
            <a:srgbClr val="D9D9D9"/>
          </a:solidFill>
        </p:spPr>
        <p:txBody>
          <a:bodyPr/>
          <a:lstStyle>
            <a:lvl1pPr marL="0" indent="0">
              <a:buNone/>
              <a:defRPr sz="3200">
                <a:solidFill>
                  <a:srgbClr val="262626"/>
                </a:solidFill>
              </a:defRPr>
            </a:lvl1pPr>
          </a:lstStyle>
          <a:p>
            <a:pPr lvl="0"/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5" name="Text Placeholder 3"/>
          <p:cNvSpPr txBox="1">
            <a:spLocks noGrp="1"/>
          </p:cNvSpPr>
          <p:nvPr>
            <p:ph type="body" idx="2"/>
          </p:nvPr>
        </p:nvSpPr>
        <p:spPr>
          <a:xfrm>
            <a:off x="1115568" y="3549920"/>
            <a:ext cx="3794759" cy="2194038"/>
          </a:xfrm>
        </p:spPr>
        <p:txBody>
          <a:bodyPr anchorCtr="1"/>
          <a:lstStyle>
            <a:lvl1pPr marL="0" indent="0" algn="ctr">
              <a:buNone/>
              <a:defRPr sz="1500"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Date Placeholder 7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effectLst>
                  <a:outerShdw dist="38096" dir="2700000">
                    <a:srgbClr val="000000"/>
                  </a:outerShdw>
                </a:effectLst>
              </a:defRPr>
            </a:lvl1pPr>
          </a:lstStyle>
          <a:p>
            <a:pPr lvl="0"/>
            <a:fld id="{1BE0D914-01D5-4D1F-9F02-972E80F718CA}" type="datetime1">
              <a:rPr lang="pl-PL"/>
              <a:pPr lvl="0"/>
              <a:t>26.05.2025</a:t>
            </a:fld>
            <a:endParaRPr lang="pl-PL"/>
          </a:p>
        </p:txBody>
      </p:sp>
      <p:sp>
        <p:nvSpPr>
          <p:cNvPr id="7" name="Footer Placeholder 8"/>
          <p:cNvSpPr txBox="1">
            <a:spLocks noGrp="1"/>
          </p:cNvSpPr>
          <p:nvPr>
            <p:ph type="ftr" sz="quarter" idx="9"/>
          </p:nvPr>
        </p:nvSpPr>
        <p:spPr>
          <a:xfrm>
            <a:off x="804672" y="6236207"/>
            <a:ext cx="5124800" cy="32004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8" name="Slide Number Placeholder 9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EA75506-75F4-4D59-9D7F-D82A2626F84A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9557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CA52D3-2481-4A3E-B214-B24F3D78493A}" type="datetime1">
              <a:rPr lang="pl-PL"/>
              <a:pPr lvl="0"/>
              <a:t>26.05.2025</a:t>
            </a:fld>
            <a:endParaRPr lang="pl-PL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D7060B6-218E-4925-BA17-062687540799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0673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>
            <a:off x="8653113" y="937259"/>
            <a:ext cx="1298603" cy="4983480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2231136" y="937259"/>
            <a:ext cx="6198489" cy="498348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D8010A8-F227-4854-B566-8F1D0BAB5FEB}" type="datetime1">
              <a:rPr lang="pl-PL"/>
              <a:pPr lvl="0"/>
              <a:t>26.05.2025</a:t>
            </a:fld>
            <a:endParaRPr lang="pl-PL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9F49164-A712-483A-A9DD-F272DA9062B8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2550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4" cy="1188720"/>
          </a:xfrm>
          <a:prstGeom prst="rect">
            <a:avLst/>
          </a:prstGeom>
          <a:solidFill>
            <a:srgbClr val="E0DFD0">
              <a:alpha val="15000"/>
            </a:srgbClr>
          </a:solidFill>
          <a:ln w="31747">
            <a:solidFill>
              <a:srgbClr val="FFFFFF"/>
            </a:solidFill>
            <a:prstDash val="solid"/>
            <a:miter/>
          </a:ln>
        </p:spPr>
        <p:txBody>
          <a:bodyPr vert="horz" wrap="square" lIns="182880" tIns="182880" rIns="182880" bIns="182880" anchor="ctr" anchorCtr="1" compatLnSpc="1"/>
          <a:lstStyle/>
          <a:p>
            <a:pPr lvl="0"/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4" cy="31019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7821430" y="6238814"/>
            <a:ext cx="2753743" cy="323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05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1pPr>
          </a:lstStyle>
          <a:p>
            <a:pPr lvl="0"/>
            <a:fld id="{6F9B69F3-9454-4A8E-94E3-FE2B5F582D65}" type="datetime1">
              <a:rPr lang="pl-PL"/>
              <a:pPr lvl="0"/>
              <a:t>26.05.2025</a:t>
            </a:fld>
            <a:endParaRPr lang="pl-PL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1600200" y="6236207"/>
            <a:ext cx="5901190" cy="320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05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1pPr>
          </a:lstStyle>
          <a:p>
            <a:pPr lvl="0"/>
            <a:endParaRPr lang="pl-PL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10758921" y="6217920"/>
            <a:ext cx="365760" cy="365760"/>
          </a:xfrm>
          <a:prstGeom prst="rect">
            <a:avLst/>
          </a:prstGeom>
          <a:solidFill>
            <a:srgbClr val="1D1D1D">
              <a:alpha val="69804"/>
            </a:srgbClr>
          </a:solidFill>
          <a:ln>
            <a:noFill/>
          </a:ln>
        </p:spPr>
        <p:txBody>
          <a:bodyPr vert="horz" wrap="square" lIns="18288" tIns="45720" rIns="18288" bIns="45720" anchor="ctr" anchorCtr="1" compatLnSpc="1"/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1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1pPr>
          </a:lstStyle>
          <a:p>
            <a:pPr lvl="0"/>
            <a:fld id="{01BFC548-A807-4D4E-95DF-E5318BD05BB8}" type="slidenum"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marL="0" marR="0" lvl="0" indent="0" algn="ctr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pl-PL" sz="2800" b="0" i="0" u="none" strike="noStrike" kern="1200" cap="all" spc="200" baseline="0">
          <a:solidFill>
            <a:srgbClr val="FFFFFF"/>
          </a:solidFill>
          <a:uFillTx/>
          <a:latin typeface="Gill Sans MT"/>
        </a:defRPr>
      </a:lvl1pPr>
    </p:titleStyle>
    <p:bodyStyle>
      <a:lvl1pPr marL="228600" marR="0" lvl="0" indent="-228600" algn="l" defTabSz="9144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00B0F0"/>
        </a:buClr>
        <a:buSzPct val="100000"/>
        <a:buFont typeface="Arial" pitchFamily="34"/>
        <a:buChar char="•"/>
        <a:tabLst/>
        <a:defRPr lang="pl-PL" sz="1800" b="0" i="0" u="none" strike="noStrike" kern="1200" cap="none" spc="0" baseline="0">
          <a:solidFill>
            <a:srgbClr val="FFFFFF"/>
          </a:solidFill>
          <a:uFillTx/>
          <a:latin typeface="Gill Sans MT"/>
        </a:defRPr>
      </a:lvl1pPr>
      <a:lvl2pPr marL="457200" marR="0" lvl="1" indent="-228600" algn="l" defTabSz="9144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00B0F0"/>
        </a:buClr>
        <a:buSzPct val="100000"/>
        <a:buFont typeface="Arial" pitchFamily="34"/>
        <a:buChar char="•"/>
        <a:tabLst/>
        <a:defRPr lang="pl-PL" sz="1600" b="0" i="0" u="none" strike="noStrike" kern="1200" cap="none" spc="0" baseline="0">
          <a:solidFill>
            <a:srgbClr val="FFFFFF"/>
          </a:solidFill>
          <a:uFillTx/>
          <a:latin typeface="Gill Sans MT"/>
        </a:defRPr>
      </a:lvl2pPr>
      <a:lvl3pPr marL="685800" marR="0" lvl="2" indent="-228600" algn="l" defTabSz="9144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00B0F0"/>
        </a:buClr>
        <a:buSzPct val="100000"/>
        <a:buFont typeface="Arial" pitchFamily="34"/>
        <a:buChar char="•"/>
        <a:tabLst/>
        <a:defRPr lang="pl-PL" sz="1600" b="0" i="0" u="none" strike="noStrike" kern="1200" cap="none" spc="0" baseline="0">
          <a:solidFill>
            <a:srgbClr val="FFFFFF"/>
          </a:solidFill>
          <a:uFillTx/>
          <a:latin typeface="Gill Sans MT"/>
        </a:defRPr>
      </a:lvl3pPr>
      <a:lvl4pPr marL="914400" marR="0" lvl="3" indent="-228600" algn="l" defTabSz="9144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00B0F0"/>
        </a:buClr>
        <a:buSzPct val="100000"/>
        <a:buFont typeface="Arial" pitchFamily="34"/>
        <a:buChar char="•"/>
        <a:tabLst/>
        <a:defRPr lang="pl-PL" sz="1600" b="0" i="0" u="none" strike="noStrike" kern="1200" cap="none" spc="0" baseline="0">
          <a:solidFill>
            <a:srgbClr val="FFFFFF"/>
          </a:solidFill>
          <a:uFillTx/>
          <a:latin typeface="Gill Sans MT"/>
        </a:defRPr>
      </a:lvl4pPr>
      <a:lvl5pPr marL="1143000" marR="0" lvl="4" indent="-228600" algn="l" defTabSz="9144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00B0F0"/>
        </a:buClr>
        <a:buSzPct val="100000"/>
        <a:buFont typeface="Arial" pitchFamily="34"/>
        <a:buChar char="•"/>
        <a:tabLst/>
        <a:defRPr lang="pl-PL" sz="1600" b="0" i="0" u="none" strike="noStrike" kern="1200" cap="none" spc="0" baseline="0">
          <a:solidFill>
            <a:srgbClr val="FFFFFF"/>
          </a:solidFill>
          <a:uFillTx/>
          <a:latin typeface="Gill Sans MT"/>
        </a:defRPr>
      </a:lvl5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ctrTitle"/>
          </p:nvPr>
        </p:nvSpPr>
        <p:spPr>
          <a:xfrm>
            <a:off x="1727914" y="2125339"/>
            <a:ext cx="8736177" cy="2098227"/>
          </a:xfrm>
          <a:solidFill>
            <a:srgbClr val="00B050"/>
          </a:solidFill>
        </p:spPr>
        <p:txBody>
          <a:bodyPr/>
          <a:lstStyle/>
          <a:p>
            <a:pPr lvl="0"/>
            <a:r>
              <a:rPr lang="pl-PL"/>
              <a:t>Kolorowanie grafów</a:t>
            </a:r>
          </a:p>
        </p:txBody>
      </p:sp>
      <p:pic>
        <p:nvPicPr>
          <p:cNvPr id="3" name="Picture 2" descr="Python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1377" y="4258918"/>
            <a:ext cx="2570158" cy="2463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Python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090065" y="135559"/>
            <a:ext cx="1840833" cy="176445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AutoShape 4"/>
          <p:cNvSpPr/>
          <p:nvPr/>
        </p:nvSpPr>
        <p:spPr>
          <a:xfrm>
            <a:off x="9374913" y="3812243"/>
            <a:ext cx="1840833" cy="18408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536" y="5080223"/>
            <a:ext cx="1713613" cy="164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raz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106" y="272454"/>
            <a:ext cx="1088648" cy="1043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1295403" y="252164"/>
            <a:ext cx="9601200" cy="1046750"/>
          </a:xfrm>
        </p:spPr>
        <p:txBody>
          <a:bodyPr/>
          <a:lstStyle/>
          <a:p>
            <a:pPr lvl="0"/>
            <a:r>
              <a:rPr lang="pl-PL"/>
              <a:t>Wstęp teoretyczny</a:t>
            </a:r>
          </a:p>
        </p:txBody>
      </p:sp>
      <p:sp>
        <p:nvSpPr>
          <p:cNvPr id="3" name="Rectangle 1"/>
          <p:cNvSpPr txBox="1">
            <a:spLocks noGrp="1"/>
          </p:cNvSpPr>
          <p:nvPr>
            <p:ph idx="1"/>
          </p:nvPr>
        </p:nvSpPr>
        <p:spPr>
          <a:xfrm>
            <a:off x="166539" y="1843951"/>
            <a:ext cx="11858917" cy="3170096"/>
          </a:xfrm>
        </p:spPr>
        <p:txBody>
          <a:bodyPr anchor="ctr">
            <a:spAutoFit/>
          </a:bodyPr>
          <a:lstStyle/>
          <a:p>
            <a:pPr lvl="0" hangingPunct="0">
              <a:spcBef>
                <a:spcPts val="0"/>
              </a:spcBef>
            </a:pPr>
            <a:r>
              <a:rPr lang="pl-PL" sz="2000">
                <a:latin typeface="Arial" pitchFamily="34"/>
              </a:rPr>
              <a:t>Kolorowanie grafu to przypisanie kolorów wierzchołkom (lub krawędziom) grafu w taki sposób, aby żadne dwa sąsiednie wierzchołki nie miały tego samego koloru.</a:t>
            </a:r>
          </a:p>
          <a:p>
            <a:pPr lvl="0" hangingPunct="0">
              <a:spcBef>
                <a:spcPts val="0"/>
              </a:spcBef>
            </a:pPr>
            <a:r>
              <a:rPr lang="pl-PL" sz="2000">
                <a:latin typeface="Arial" pitchFamily="34"/>
              </a:rPr>
              <a:t>Minimalna liczba kolorów potrzebna do poprawnego kolorowania to liczba chromatyczna grafu.</a:t>
            </a:r>
          </a:p>
          <a:p>
            <a:pPr lvl="0" hangingPunct="0">
              <a:spcBef>
                <a:spcPts val="0"/>
              </a:spcBef>
            </a:pPr>
            <a:r>
              <a:rPr lang="pl-PL" sz="2000">
                <a:latin typeface="Arial" pitchFamily="34"/>
              </a:rPr>
              <a:t>Problem kolorowania grafów jest klasyczny w teorii grafów i należy do problemów bardzo trudnych.</a:t>
            </a:r>
          </a:p>
          <a:p>
            <a:pPr lvl="0" hangingPunct="0">
              <a:spcBef>
                <a:spcPts val="0"/>
              </a:spcBef>
            </a:pPr>
            <a:r>
              <a:rPr lang="pl-PL" sz="2000">
                <a:latin typeface="Arial" pitchFamily="34"/>
              </a:rPr>
              <a:t>Ma zastosowanie w praktyce m.in. w: </a:t>
            </a:r>
          </a:p>
          <a:p>
            <a:pPr marL="0" lvl="0" indent="0" hangingPunct="0">
              <a:spcBef>
                <a:spcPts val="0"/>
              </a:spcBef>
              <a:buNone/>
            </a:pPr>
            <a:r>
              <a:rPr lang="pl-PL" sz="2000">
                <a:latin typeface="Arial" pitchFamily="34"/>
              </a:rPr>
              <a:t>  - Planowanie egzaminów lub zajęć – aby nie nakładały się w czasie.</a:t>
            </a:r>
          </a:p>
          <a:p>
            <a:pPr marL="0" lvl="0" indent="0" hangingPunct="0">
              <a:spcBef>
                <a:spcPts val="0"/>
              </a:spcBef>
              <a:buNone/>
            </a:pPr>
            <a:r>
              <a:rPr lang="pl-PL" sz="2000">
                <a:latin typeface="Arial" pitchFamily="34"/>
              </a:rPr>
              <a:t>  - Kolorowanie map – różne regiony muszą mieć inne kolory.</a:t>
            </a:r>
          </a:p>
          <a:p>
            <a:pPr marL="0" lvl="0" indent="0" hangingPunct="0">
              <a:spcBef>
                <a:spcPts val="0"/>
              </a:spcBef>
              <a:buNone/>
            </a:pPr>
            <a:r>
              <a:rPr lang="pl-PL" sz="2000">
                <a:latin typeface="Arial" pitchFamily="34"/>
              </a:rPr>
              <a:t>  - Przydzielanie częstotliwości radiowych – unikanie zakłóceń między nadajnikami.</a:t>
            </a:r>
          </a:p>
          <a:p>
            <a:pPr marL="0" lvl="0" indent="0" hangingPunct="0">
              <a:spcBef>
                <a:spcPts val="0"/>
              </a:spcBef>
              <a:buNone/>
            </a:pPr>
            <a:r>
              <a:rPr lang="pl-PL" sz="2000">
                <a:latin typeface="Arial" pitchFamily="34"/>
              </a:rPr>
              <a:t>  - Analiza konfliktów i zależności w grafach.</a:t>
            </a:r>
          </a:p>
          <a:p>
            <a:pPr lvl="0" hangingPunct="0">
              <a:spcBef>
                <a:spcPts val="0"/>
              </a:spcBef>
            </a:pPr>
            <a:r>
              <a:rPr lang="pl-PL" sz="2000">
                <a:latin typeface="Arial" pitchFamily="34"/>
              </a:rPr>
              <a:t>Rozwiązania mogą wykorzystywać algorytmy zachłanne i dokładne.</a:t>
            </a:r>
          </a:p>
        </p:txBody>
      </p:sp>
      <p:pic>
        <p:nvPicPr>
          <p:cNvPr id="4" name="Picture 2" descr="Python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6539" y="5187912"/>
            <a:ext cx="1479298" cy="1417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Obraz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767" y="326230"/>
            <a:ext cx="937689" cy="898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39155" y="355088"/>
            <a:ext cx="7729724" cy="1188720"/>
          </a:xfrm>
        </p:spPr>
        <p:txBody>
          <a:bodyPr/>
          <a:lstStyle/>
          <a:p>
            <a:pPr lvl="0"/>
            <a:r>
              <a:rPr lang="pl-PL"/>
              <a:t>Rodzaje analizowanych algorytmów</a:t>
            </a:r>
          </a:p>
        </p:txBody>
      </p:sp>
      <p:sp>
        <p:nvSpPr>
          <p:cNvPr id="3" name="Symbol zastępczy zawartości 2"/>
          <p:cNvSpPr txBox="1">
            <a:spLocks noGrp="1"/>
          </p:cNvSpPr>
          <p:nvPr>
            <p:ph idx="1"/>
          </p:nvPr>
        </p:nvSpPr>
        <p:spPr>
          <a:xfrm>
            <a:off x="256672" y="1844838"/>
            <a:ext cx="11694691" cy="4876796"/>
          </a:xfrm>
        </p:spPr>
        <p:txBody>
          <a:bodyPr/>
          <a:lstStyle/>
          <a:p>
            <a:pPr lvl="0">
              <a:buNone/>
            </a:pPr>
            <a:r>
              <a:rPr lang="pl-PL" sz="2000"/>
              <a:t>W projekcie zaimplementowano i porównano 5 algorytmów:</a:t>
            </a:r>
          </a:p>
          <a:p>
            <a:pPr lvl="0">
              <a:buNone/>
            </a:pPr>
            <a:r>
              <a:rPr lang="pl-PL" sz="2200">
                <a:solidFill>
                  <a:srgbClr val="7F7D54"/>
                </a:solidFill>
              </a:rPr>
              <a:t>Zachłanne</a:t>
            </a:r>
            <a:r>
              <a:rPr lang="pl-PL" sz="2000">
                <a:solidFill>
                  <a:srgbClr val="7F7D54"/>
                </a:solidFill>
              </a:rPr>
              <a:t>:</a:t>
            </a:r>
          </a:p>
          <a:p>
            <a:pPr lvl="0"/>
            <a:r>
              <a:rPr lang="pl-PL" sz="2000"/>
              <a:t>Largest First (LF) – sortowanie według malejącego stopnia wierzchołka</a:t>
            </a:r>
          </a:p>
          <a:p>
            <a:pPr lvl="0"/>
            <a:r>
              <a:rPr lang="pl-PL" sz="2000"/>
              <a:t>Smallest Last (SL) – Kolorowanie zaczynając od wierzchołków z najmniejszą liczbą połączeń.</a:t>
            </a:r>
          </a:p>
          <a:p>
            <a:pPr lvl="0"/>
            <a:r>
              <a:rPr lang="pl-PL" sz="2000"/>
              <a:t>Saturation Largest First (SLF / DSATUR) – wybór na podstawie liczby różnych kolorów sąsiadów</a:t>
            </a:r>
          </a:p>
          <a:p>
            <a:pPr lvl="0">
              <a:buNone/>
            </a:pPr>
            <a:r>
              <a:rPr lang="pl-PL" sz="2200">
                <a:solidFill>
                  <a:srgbClr val="7F7D54"/>
                </a:solidFill>
              </a:rPr>
              <a:t>Dokładne:</a:t>
            </a:r>
          </a:p>
          <a:p>
            <a:pPr lvl="0"/>
            <a:r>
              <a:rPr lang="pl-PL" sz="2000"/>
              <a:t>Brute Force – przegląd wszystkich możliwych kolorowań</a:t>
            </a:r>
          </a:p>
          <a:p>
            <a:pPr lvl="0"/>
            <a:r>
              <a:rPr lang="pl-PL" sz="2000"/>
              <a:t>Backtracking – rekurencyjne przeszukiwanie z możliwością cofania</a:t>
            </a:r>
          </a:p>
          <a:p>
            <a:pPr lvl="0"/>
            <a:endParaRPr lang="pl-PL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2" y="355088"/>
            <a:ext cx="1088648" cy="1043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Python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742840" y="4283241"/>
            <a:ext cx="2192484" cy="2101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39155" y="355088"/>
            <a:ext cx="7729724" cy="1188720"/>
          </a:xfrm>
        </p:spPr>
        <p:txBody>
          <a:bodyPr/>
          <a:lstStyle/>
          <a:p>
            <a:pPr lvl="0"/>
            <a:r>
              <a:rPr lang="pl-PL"/>
              <a:t>Problem kolorowania grafów</a:t>
            </a:r>
          </a:p>
        </p:txBody>
      </p:sp>
      <p:pic>
        <p:nvPicPr>
          <p:cNvPr id="3" name="Picture 2" descr="Python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999988" y="40919"/>
            <a:ext cx="2192008" cy="2101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72" y="355088"/>
            <a:ext cx="1088648" cy="10432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3"/>
          <p:cNvSpPr txBox="1">
            <a:spLocks noGrp="1"/>
          </p:cNvSpPr>
          <p:nvPr>
            <p:ph idx="1"/>
          </p:nvPr>
        </p:nvSpPr>
        <p:spPr>
          <a:xfrm>
            <a:off x="184489" y="2689040"/>
            <a:ext cx="11823027" cy="3441966"/>
          </a:xfrm>
        </p:spPr>
        <p:txBody>
          <a:bodyPr anchor="ctr">
            <a:spAutoFit/>
          </a:bodyPr>
          <a:lstStyle/>
          <a:p>
            <a:pPr marL="0" lvl="0" indent="0" hangingPunct="0">
              <a:spcBef>
                <a:spcPts val="0"/>
              </a:spcBef>
              <a:buNone/>
            </a:pPr>
            <a:r>
              <a:rPr lang="pl-PL" sz="2200"/>
              <a:t>Wierzchołki reprezentują obiekty, które należy pokolorować, a krawędzie wskazują zależności konfliktowe – czyli przypadki, w których dwa elementy nie mogą mieć tego samego koloru. </a:t>
            </a:r>
          </a:p>
          <a:p>
            <a:pPr lvl="0">
              <a:buNone/>
            </a:pPr>
            <a:r>
              <a:rPr lang="pl-PL" sz="2200"/>
              <a:t>W naszym projekcie skupiliśmy się na grafach losowych, ponieważ:</a:t>
            </a:r>
          </a:p>
          <a:p>
            <a:pPr lvl="0"/>
            <a:r>
              <a:rPr lang="pl-PL" sz="2200"/>
              <a:t>pozwalają modelować różnorodne i nieprzewidywalne struktury danych,</a:t>
            </a:r>
          </a:p>
          <a:p>
            <a:pPr lvl="0"/>
            <a:r>
              <a:rPr lang="pl-PL" sz="2200"/>
              <a:t>umożliwiają badanie zachowania algorytmów w typowych, a nie tylko ekstremalnych przypadkach,</a:t>
            </a:r>
          </a:p>
          <a:p>
            <a:pPr lvl="0"/>
            <a:r>
              <a:rPr lang="pl-PL" sz="2200"/>
              <a:t>dają dużą swobodę w sterowaniu parametrami, takimi jak liczba wierzchołków czy gęstość krawędzi.</a:t>
            </a:r>
          </a:p>
          <a:p>
            <a:pPr marL="0" lvl="0" indent="0">
              <a:buNone/>
            </a:pPr>
            <a:r>
              <a:rPr lang="pl-PL" sz="2200"/>
              <a:t>Dzięki temu mogliśmy przeanalizować skuteczność algorytmów kolorujących w wielu różnych konfiguracjach.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39155" y="355088"/>
            <a:ext cx="7729724" cy="1188720"/>
          </a:xfrm>
        </p:spPr>
        <p:txBody>
          <a:bodyPr/>
          <a:lstStyle/>
          <a:p>
            <a:pPr lvl="0"/>
            <a:r>
              <a:rPr lang="pl-PL"/>
              <a:t>Largest First (LF)</a:t>
            </a:r>
          </a:p>
        </p:txBody>
      </p:sp>
      <p:sp>
        <p:nvSpPr>
          <p:cNvPr id="3" name="Symbol zastępczy zawartości 2"/>
          <p:cNvSpPr txBox="1">
            <a:spLocks noGrp="1"/>
          </p:cNvSpPr>
          <p:nvPr>
            <p:ph idx="1"/>
          </p:nvPr>
        </p:nvSpPr>
        <p:spPr>
          <a:xfrm>
            <a:off x="256672" y="1844838"/>
            <a:ext cx="11694691" cy="4876796"/>
          </a:xfrm>
        </p:spPr>
        <p:txBody>
          <a:bodyPr/>
          <a:lstStyle/>
          <a:p>
            <a:pPr lvl="0">
              <a:lnSpc>
                <a:spcPct val="90000"/>
              </a:lnSpc>
              <a:buNone/>
            </a:pPr>
            <a:r>
              <a:rPr lang="pl-PL" sz="1700" b="1">
                <a:solidFill>
                  <a:srgbClr val="7F7D54"/>
                </a:solidFill>
              </a:rPr>
              <a:t>Opis:</a:t>
            </a:r>
            <a:r>
              <a:rPr lang="pl-PL" sz="1700"/>
              <a:t/>
            </a:r>
            <a:br>
              <a:rPr lang="pl-PL" sz="1700"/>
            </a:br>
            <a:r>
              <a:rPr lang="pl-PL" sz="1700"/>
              <a:t>Ten algorytm rozpoczyna kolorowanie od wierzchołków najbardziej "ważnych" – czyli tych o największym stopniu (liczbie sąsiadów).</a:t>
            </a:r>
          </a:p>
          <a:p>
            <a:pPr lvl="0">
              <a:lnSpc>
                <a:spcPct val="90000"/>
              </a:lnSpc>
              <a:buNone/>
            </a:pPr>
            <a:r>
              <a:rPr lang="pl-PL" sz="1700" b="1">
                <a:solidFill>
                  <a:srgbClr val="7F7D54"/>
                </a:solidFill>
              </a:rPr>
              <a:t>Kroki:</a:t>
            </a:r>
            <a:endParaRPr lang="pl-PL" sz="1700">
              <a:solidFill>
                <a:srgbClr val="7F7D54"/>
              </a:solidFill>
            </a:endParaRPr>
          </a:p>
          <a:p>
            <a:pPr lvl="0">
              <a:lnSpc>
                <a:spcPct val="90000"/>
              </a:lnSpc>
              <a:buFont typeface="Gill Sans MT"/>
              <a:buAutoNum type="arabicPeriod"/>
            </a:pPr>
            <a:r>
              <a:rPr lang="pl-PL" sz="1700"/>
              <a:t>Oblicz stopień (liczbę krawędzi) każdego wierzchołka.</a:t>
            </a:r>
          </a:p>
          <a:p>
            <a:pPr lvl="0">
              <a:lnSpc>
                <a:spcPct val="90000"/>
              </a:lnSpc>
              <a:buFont typeface="Gill Sans MT"/>
              <a:buAutoNum type="arabicPeriod"/>
            </a:pPr>
            <a:r>
              <a:rPr lang="pl-PL" sz="1700"/>
              <a:t>Posortuj wierzchołki malejąco według stopnia.</a:t>
            </a:r>
          </a:p>
          <a:p>
            <a:pPr lvl="0">
              <a:lnSpc>
                <a:spcPct val="90000"/>
              </a:lnSpc>
              <a:buFont typeface="Gill Sans MT"/>
              <a:buAutoNum type="arabicPeriod"/>
            </a:pPr>
            <a:r>
              <a:rPr lang="pl-PL" sz="1700"/>
              <a:t>Przejdź po wierzchołkach w tej kolejności:</a:t>
            </a:r>
          </a:p>
          <a:p>
            <a:pPr marL="742950" lvl="1" indent="-285750">
              <a:lnSpc>
                <a:spcPct val="90000"/>
              </a:lnSpc>
              <a:buFont typeface="Gill Sans MT"/>
              <a:buAutoNum type="arabicPeriod"/>
            </a:pPr>
            <a:r>
              <a:rPr lang="pl-PL" sz="1500"/>
              <a:t>Dla każdego wierzchołka przypisz najmniejszy możliwy kolor, który nie występuje u jego sąsiadów.</a:t>
            </a:r>
          </a:p>
          <a:p>
            <a:pPr lvl="0">
              <a:lnSpc>
                <a:spcPct val="90000"/>
              </a:lnSpc>
              <a:buNone/>
            </a:pPr>
            <a:r>
              <a:rPr lang="pl-PL" sz="1700" b="1">
                <a:solidFill>
                  <a:srgbClr val="7F7D54"/>
                </a:solidFill>
              </a:rPr>
              <a:t>Zalety:</a:t>
            </a:r>
            <a:endParaRPr lang="pl-PL" sz="1700">
              <a:solidFill>
                <a:srgbClr val="7F7D54"/>
              </a:solidFill>
            </a:endParaRPr>
          </a:p>
          <a:p>
            <a:pPr lvl="0">
              <a:lnSpc>
                <a:spcPct val="90000"/>
              </a:lnSpc>
            </a:pPr>
            <a:r>
              <a:rPr lang="pl-PL" sz="1700"/>
              <a:t>Szybki i prosty w implementacji.</a:t>
            </a:r>
          </a:p>
          <a:p>
            <a:pPr lvl="0">
              <a:lnSpc>
                <a:spcPct val="90000"/>
              </a:lnSpc>
            </a:pPr>
            <a:r>
              <a:rPr lang="pl-PL" sz="1700"/>
              <a:t>Działa dobrze, gdy wierzchołki o dużym stopniu mają kluczowe znaczenie w strukturze grafu.</a:t>
            </a:r>
          </a:p>
          <a:p>
            <a:pPr lvl="0">
              <a:lnSpc>
                <a:spcPct val="90000"/>
              </a:lnSpc>
              <a:buNone/>
            </a:pPr>
            <a:r>
              <a:rPr lang="pl-PL" sz="1700" b="1">
                <a:solidFill>
                  <a:srgbClr val="7F7D54"/>
                </a:solidFill>
              </a:rPr>
              <a:t>Wady:</a:t>
            </a:r>
            <a:endParaRPr lang="pl-PL" sz="1700">
              <a:solidFill>
                <a:srgbClr val="7F7D54"/>
              </a:solidFill>
            </a:endParaRPr>
          </a:p>
          <a:p>
            <a:pPr lvl="0">
              <a:lnSpc>
                <a:spcPct val="90000"/>
              </a:lnSpc>
            </a:pPr>
            <a:r>
              <a:rPr lang="pl-PL" sz="1700"/>
              <a:t>Nie zawsze daje optymalne rozwiązanie.</a:t>
            </a:r>
          </a:p>
          <a:p>
            <a:pPr lvl="0">
              <a:lnSpc>
                <a:spcPct val="90000"/>
              </a:lnSpc>
            </a:pPr>
            <a:r>
              <a:rPr lang="pl-PL" sz="1700"/>
              <a:t>Wrażliwy na strukturę grafu.</a:t>
            </a:r>
          </a:p>
          <a:p>
            <a:pPr lvl="0">
              <a:lnSpc>
                <a:spcPct val="90000"/>
              </a:lnSpc>
            </a:pPr>
            <a:endParaRPr lang="pl-PL" sz="1700"/>
          </a:p>
        </p:txBody>
      </p:sp>
      <p:pic>
        <p:nvPicPr>
          <p:cNvPr id="4" name="Picture 2" descr="Python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487000" y="4401848"/>
            <a:ext cx="2192008" cy="2101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72" y="355088"/>
            <a:ext cx="1088648" cy="1043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39155" y="355088"/>
            <a:ext cx="7729724" cy="1188720"/>
          </a:xfrm>
        </p:spPr>
        <p:txBody>
          <a:bodyPr/>
          <a:lstStyle/>
          <a:p>
            <a:pPr lvl="0"/>
            <a:r>
              <a:rPr lang="pl-PL"/>
              <a:t>Smallest Last (SL)</a:t>
            </a:r>
          </a:p>
        </p:txBody>
      </p:sp>
      <p:sp>
        <p:nvSpPr>
          <p:cNvPr id="3" name="Symbol zastępczy zawartości 2"/>
          <p:cNvSpPr txBox="1">
            <a:spLocks noGrp="1"/>
          </p:cNvSpPr>
          <p:nvPr>
            <p:ph idx="1"/>
          </p:nvPr>
        </p:nvSpPr>
        <p:spPr>
          <a:xfrm>
            <a:off x="248652" y="1828800"/>
            <a:ext cx="11694691" cy="4876796"/>
          </a:xfrm>
        </p:spPr>
        <p:txBody>
          <a:bodyPr/>
          <a:lstStyle/>
          <a:p>
            <a:pPr lvl="0">
              <a:lnSpc>
                <a:spcPct val="90000"/>
              </a:lnSpc>
              <a:buNone/>
            </a:pPr>
            <a:r>
              <a:rPr lang="pl-PL" sz="2000" b="1">
                <a:solidFill>
                  <a:srgbClr val="7F7D54"/>
                </a:solidFill>
              </a:rPr>
              <a:t>Opis:</a:t>
            </a:r>
            <a:r>
              <a:rPr lang="pl-PL" sz="2000"/>
              <a:t/>
            </a:r>
            <a:br>
              <a:rPr lang="pl-PL" sz="2000"/>
            </a:br>
            <a:r>
              <a:rPr lang="pl-PL" sz="2000"/>
              <a:t>Algorytm wybiera do kolorowania wierzchołki w odwrotnej kolejności usuwania: najpierw usuwa te o najmniejszym stopniu, a potem koloruje od końca.</a:t>
            </a:r>
          </a:p>
          <a:p>
            <a:pPr lvl="0">
              <a:lnSpc>
                <a:spcPct val="90000"/>
              </a:lnSpc>
              <a:buNone/>
            </a:pPr>
            <a:r>
              <a:rPr lang="pl-PL" sz="2000" b="1">
                <a:solidFill>
                  <a:srgbClr val="7F7D54"/>
                </a:solidFill>
              </a:rPr>
              <a:t>Kroki:</a:t>
            </a:r>
            <a:endParaRPr lang="pl-PL" sz="2000">
              <a:solidFill>
                <a:srgbClr val="7F7D54"/>
              </a:solidFill>
            </a:endParaRPr>
          </a:p>
          <a:p>
            <a:pPr lvl="0">
              <a:lnSpc>
                <a:spcPct val="90000"/>
              </a:lnSpc>
              <a:buFont typeface="Gill Sans MT"/>
              <a:buAutoNum type="arabicPeriod"/>
            </a:pPr>
            <a:r>
              <a:rPr lang="pl-PL" sz="2000"/>
              <a:t>Iteracyjnie usuwaj wierzchołek o najmniejszym bieżącym stopniu, zapamiętując kolejność usunięcia.</a:t>
            </a:r>
          </a:p>
          <a:p>
            <a:pPr lvl="0">
              <a:lnSpc>
                <a:spcPct val="90000"/>
              </a:lnSpc>
              <a:buFont typeface="Gill Sans MT"/>
              <a:buAutoNum type="arabicPeriod"/>
            </a:pPr>
            <a:r>
              <a:rPr lang="pl-PL" sz="2000"/>
              <a:t>Odwróć kolejność uzyskaną w kroku 1.</a:t>
            </a:r>
          </a:p>
          <a:p>
            <a:pPr lvl="0">
              <a:lnSpc>
                <a:spcPct val="90000"/>
              </a:lnSpc>
              <a:buFont typeface="Gill Sans MT"/>
              <a:buAutoNum type="arabicPeriod"/>
            </a:pPr>
            <a:r>
              <a:rPr lang="pl-PL" sz="2000"/>
              <a:t>Przejdź przez wierzchołki w tej kolejności i koloruj je najniższym możliwym kolorem.</a:t>
            </a:r>
          </a:p>
          <a:p>
            <a:pPr lvl="0">
              <a:lnSpc>
                <a:spcPct val="90000"/>
              </a:lnSpc>
              <a:buNone/>
            </a:pPr>
            <a:r>
              <a:rPr lang="pl-PL" sz="2000" b="1">
                <a:solidFill>
                  <a:srgbClr val="7F7D54"/>
                </a:solidFill>
              </a:rPr>
              <a:t>Zalety:</a:t>
            </a:r>
            <a:endParaRPr lang="pl-PL" sz="2000">
              <a:solidFill>
                <a:srgbClr val="7F7D54"/>
              </a:solidFill>
            </a:endParaRPr>
          </a:p>
          <a:p>
            <a:pPr lvl="0">
              <a:lnSpc>
                <a:spcPct val="90000"/>
              </a:lnSpc>
            </a:pPr>
            <a:r>
              <a:rPr lang="pl-PL" sz="2000"/>
              <a:t>Często lepsze niż LF w grafach gęstych lub nierównomiernych.</a:t>
            </a:r>
          </a:p>
          <a:p>
            <a:pPr lvl="0">
              <a:lnSpc>
                <a:spcPct val="90000"/>
              </a:lnSpc>
            </a:pPr>
            <a:r>
              <a:rPr lang="pl-PL" sz="2000"/>
              <a:t>Stara się unikać złych decyzji na początku kolorowania.</a:t>
            </a:r>
          </a:p>
          <a:p>
            <a:pPr lvl="0">
              <a:lnSpc>
                <a:spcPct val="90000"/>
              </a:lnSpc>
              <a:buNone/>
            </a:pPr>
            <a:r>
              <a:rPr lang="pl-PL" sz="2000" b="1">
                <a:solidFill>
                  <a:srgbClr val="7F7D54"/>
                </a:solidFill>
              </a:rPr>
              <a:t>Wady:</a:t>
            </a:r>
            <a:endParaRPr lang="pl-PL" sz="2000">
              <a:solidFill>
                <a:srgbClr val="7F7D54"/>
              </a:solidFill>
            </a:endParaRPr>
          </a:p>
          <a:p>
            <a:pPr lvl="0">
              <a:lnSpc>
                <a:spcPct val="90000"/>
              </a:lnSpc>
            </a:pPr>
            <a:r>
              <a:rPr lang="pl-PL" sz="2000"/>
              <a:t>Nadal może używać więcej kolorów niż potrzeba.</a:t>
            </a:r>
          </a:p>
          <a:p>
            <a:pPr lvl="0">
              <a:lnSpc>
                <a:spcPct val="90000"/>
              </a:lnSpc>
            </a:pPr>
            <a:endParaRPr lang="pl-PL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2" y="355088"/>
            <a:ext cx="1088648" cy="1043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Python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487000" y="4401848"/>
            <a:ext cx="2192008" cy="2101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39155" y="355088"/>
            <a:ext cx="7729724" cy="1188720"/>
          </a:xfrm>
        </p:spPr>
        <p:txBody>
          <a:bodyPr/>
          <a:lstStyle/>
          <a:p>
            <a:pPr lvl="0"/>
            <a:r>
              <a:rPr lang="pl-PL"/>
              <a:t>Saturation Largest First (SLF / DSATUR)</a:t>
            </a:r>
          </a:p>
        </p:txBody>
      </p:sp>
      <p:sp>
        <p:nvSpPr>
          <p:cNvPr id="3" name="Symbol zastępczy zawartości 2"/>
          <p:cNvSpPr txBox="1">
            <a:spLocks noGrp="1"/>
          </p:cNvSpPr>
          <p:nvPr>
            <p:ph idx="1"/>
          </p:nvPr>
        </p:nvSpPr>
        <p:spPr>
          <a:xfrm>
            <a:off x="240633" y="1668377"/>
            <a:ext cx="11694691" cy="5053267"/>
          </a:xfrm>
        </p:spPr>
        <p:txBody>
          <a:bodyPr/>
          <a:lstStyle/>
          <a:p>
            <a:pPr lvl="0">
              <a:lnSpc>
                <a:spcPct val="90000"/>
              </a:lnSpc>
              <a:buNone/>
            </a:pPr>
            <a:r>
              <a:rPr lang="pl-PL" sz="1500" b="1">
                <a:solidFill>
                  <a:srgbClr val="7F7D54"/>
                </a:solidFill>
              </a:rPr>
              <a:t>Opis:</a:t>
            </a:r>
            <a:r>
              <a:rPr lang="pl-PL" sz="1500"/>
              <a:t/>
            </a:r>
            <a:br>
              <a:rPr lang="pl-PL" sz="1500"/>
            </a:br>
            <a:r>
              <a:rPr lang="pl-PL" sz="1500"/>
              <a:t>Najbardziej zaawansowany z algorytmów zachłannych. Wybiera wierzchołek o największym </a:t>
            </a:r>
            <a:r>
              <a:rPr lang="pl-PL" sz="1500" b="1"/>
              <a:t>saturacyjnym stopniu</a:t>
            </a:r>
            <a:r>
              <a:rPr lang="pl-PL" sz="1500"/>
              <a:t> (czyli liczbie różnych kolorów sąsiadów).</a:t>
            </a:r>
          </a:p>
          <a:p>
            <a:pPr lvl="0">
              <a:lnSpc>
                <a:spcPct val="90000"/>
              </a:lnSpc>
              <a:buNone/>
            </a:pPr>
            <a:r>
              <a:rPr lang="pl-PL" sz="1500" b="1">
                <a:solidFill>
                  <a:srgbClr val="7F7D54"/>
                </a:solidFill>
              </a:rPr>
              <a:t>Kroki:</a:t>
            </a:r>
            <a:endParaRPr lang="pl-PL" sz="1500">
              <a:solidFill>
                <a:srgbClr val="7F7D54"/>
              </a:solidFill>
            </a:endParaRPr>
          </a:p>
          <a:p>
            <a:pPr lvl="0">
              <a:lnSpc>
                <a:spcPct val="90000"/>
              </a:lnSpc>
              <a:buFont typeface="Gill Sans MT"/>
              <a:buAutoNum type="arabicPeriod"/>
            </a:pPr>
            <a:r>
              <a:rPr lang="pl-PL" sz="1500"/>
              <a:t>Tworzymy kopię grafu.</a:t>
            </a:r>
          </a:p>
          <a:p>
            <a:pPr marL="342900" lvl="0" indent="-342900">
              <a:lnSpc>
                <a:spcPct val="90000"/>
              </a:lnSpc>
              <a:buFont typeface="Gill Sans MT"/>
              <a:buAutoNum type="arabicPeriod"/>
            </a:pPr>
            <a:r>
              <a:rPr lang="pl-PL" sz="1500"/>
              <a:t>Iteracyjnie:</a:t>
            </a:r>
          </a:p>
          <a:p>
            <a:pPr lvl="0">
              <a:lnSpc>
                <a:spcPct val="90000"/>
              </a:lnSpc>
            </a:pPr>
            <a:r>
              <a:rPr lang="pl-PL" sz="1500"/>
              <a:t> wybieramy wierzchołek o najmniejszym stopniu,</a:t>
            </a:r>
          </a:p>
          <a:p>
            <a:pPr lvl="0">
              <a:lnSpc>
                <a:spcPct val="90000"/>
              </a:lnSpc>
            </a:pPr>
            <a:r>
              <a:rPr lang="pl-PL" sz="1500"/>
              <a:t>usuwamy go z grafu,</a:t>
            </a:r>
          </a:p>
          <a:p>
            <a:pPr lvl="0">
              <a:lnSpc>
                <a:spcPct val="90000"/>
              </a:lnSpc>
            </a:pPr>
            <a:r>
              <a:rPr lang="pl-PL" sz="1500"/>
              <a:t>dodajemy go na koniec listy kolejności.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l-PL" sz="1500"/>
              <a:t>→ Robimy tak, aż graf będzie pusty.</a:t>
            </a:r>
          </a:p>
          <a:p>
            <a:pPr lvl="0">
              <a:lnSpc>
                <a:spcPct val="90000"/>
              </a:lnSpc>
              <a:buNone/>
            </a:pPr>
            <a:r>
              <a:rPr lang="pl-PL" sz="1500" b="1">
                <a:solidFill>
                  <a:srgbClr val="7F7D54"/>
                </a:solidFill>
              </a:rPr>
              <a:t>Zalety:</a:t>
            </a:r>
            <a:endParaRPr lang="pl-PL" sz="1500">
              <a:solidFill>
                <a:srgbClr val="7F7D54"/>
              </a:solidFill>
            </a:endParaRPr>
          </a:p>
          <a:p>
            <a:pPr lvl="0">
              <a:lnSpc>
                <a:spcPct val="90000"/>
              </a:lnSpc>
            </a:pPr>
            <a:r>
              <a:rPr lang="pl-PL" sz="1500"/>
              <a:t>Bardzo dobra jakość kolorowania.</a:t>
            </a:r>
          </a:p>
          <a:p>
            <a:pPr lvl="0">
              <a:lnSpc>
                <a:spcPct val="90000"/>
              </a:lnSpc>
            </a:pPr>
            <a:r>
              <a:rPr lang="pl-PL" sz="1500"/>
              <a:t>Używa mniejszej liczby kolorów niż inne heurystyki.</a:t>
            </a:r>
          </a:p>
          <a:p>
            <a:pPr lvl="0">
              <a:lnSpc>
                <a:spcPct val="90000"/>
              </a:lnSpc>
            </a:pPr>
            <a:r>
              <a:rPr lang="pl-PL" sz="1500"/>
              <a:t>Dobrze radzi sobie z trudnymi przypadkami.</a:t>
            </a:r>
          </a:p>
          <a:p>
            <a:pPr lvl="0">
              <a:lnSpc>
                <a:spcPct val="90000"/>
              </a:lnSpc>
              <a:buNone/>
            </a:pPr>
            <a:r>
              <a:rPr lang="pl-PL" sz="1500" b="1">
                <a:solidFill>
                  <a:srgbClr val="7F7D54"/>
                </a:solidFill>
              </a:rPr>
              <a:t>Wady:</a:t>
            </a:r>
            <a:endParaRPr lang="pl-PL" sz="1500">
              <a:solidFill>
                <a:srgbClr val="7F7D54"/>
              </a:solidFill>
            </a:endParaRPr>
          </a:p>
          <a:p>
            <a:pPr lvl="0">
              <a:lnSpc>
                <a:spcPct val="90000"/>
              </a:lnSpc>
            </a:pPr>
            <a:r>
              <a:rPr lang="pl-PL" sz="1500"/>
              <a:t>Wolniejszy niż LF i SL (ale nadal dużo szybszy niż algorytmy dokładne).</a:t>
            </a:r>
          </a:p>
          <a:p>
            <a:pPr lvl="0">
              <a:lnSpc>
                <a:spcPct val="90000"/>
              </a:lnSpc>
            </a:pPr>
            <a:endParaRPr lang="pl-PL" sz="1500"/>
          </a:p>
        </p:txBody>
      </p:sp>
      <p:pic>
        <p:nvPicPr>
          <p:cNvPr id="4" name="Picture 2" descr="Python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487000" y="4401848"/>
            <a:ext cx="2192008" cy="2101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72" y="355088"/>
            <a:ext cx="1088648" cy="1043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39155" y="355088"/>
            <a:ext cx="7729724" cy="1188720"/>
          </a:xfrm>
        </p:spPr>
        <p:txBody>
          <a:bodyPr/>
          <a:lstStyle/>
          <a:p>
            <a:pPr lvl="0"/>
            <a:r>
              <a:rPr lang="pl-PL"/>
              <a:t>Brute Force</a:t>
            </a:r>
          </a:p>
        </p:txBody>
      </p:sp>
      <p:sp>
        <p:nvSpPr>
          <p:cNvPr id="3" name="Symbol zastępczy zawartości 2"/>
          <p:cNvSpPr txBox="1">
            <a:spLocks noGrp="1"/>
          </p:cNvSpPr>
          <p:nvPr>
            <p:ph idx="1"/>
          </p:nvPr>
        </p:nvSpPr>
        <p:spPr>
          <a:xfrm>
            <a:off x="256672" y="1668377"/>
            <a:ext cx="11694691" cy="5053267"/>
          </a:xfrm>
        </p:spPr>
        <p:txBody>
          <a:bodyPr/>
          <a:lstStyle/>
          <a:p>
            <a:pPr lvl="0">
              <a:buNone/>
            </a:pPr>
            <a:r>
              <a:rPr lang="pl-PL" b="1">
                <a:solidFill>
                  <a:srgbClr val="7F7D54"/>
                </a:solidFill>
              </a:rPr>
              <a:t>Opis:</a:t>
            </a:r>
            <a:r>
              <a:rPr lang="pl-PL"/>
              <a:t/>
            </a:r>
            <a:br>
              <a:rPr lang="pl-PL"/>
            </a:br>
            <a:r>
              <a:rPr lang="pl-PL"/>
              <a:t>Algorytm sprawdza </a:t>
            </a:r>
            <a:r>
              <a:rPr lang="pl-PL" b="1"/>
              <a:t>wszystkie możliwe kombinacje kolorów</a:t>
            </a:r>
            <a:r>
              <a:rPr lang="pl-PL"/>
              <a:t> dla wierzchołków i wybiera tę, która używa najmniejszej liczby kolorów bez konfliktów.</a:t>
            </a:r>
          </a:p>
          <a:p>
            <a:pPr lvl="0">
              <a:buNone/>
            </a:pPr>
            <a:r>
              <a:rPr lang="pl-PL" b="1">
                <a:solidFill>
                  <a:srgbClr val="7F7D54"/>
                </a:solidFill>
              </a:rPr>
              <a:t>Kroki:</a:t>
            </a:r>
            <a:endParaRPr lang="pl-PL">
              <a:solidFill>
                <a:srgbClr val="7F7D54"/>
              </a:solidFill>
            </a:endParaRPr>
          </a:p>
          <a:p>
            <a:pPr lvl="0">
              <a:buFont typeface="Gill Sans MT"/>
              <a:buAutoNum type="arabicPeriod"/>
            </a:pPr>
            <a:r>
              <a:rPr lang="pl-PL"/>
              <a:t>Wygeneruj wszystkie możliwe kombinacje kolorowań dla ustalonej liczby kolorów (np. od 1 do n).</a:t>
            </a:r>
          </a:p>
          <a:p>
            <a:pPr lvl="0">
              <a:buFont typeface="Gill Sans MT"/>
              <a:buAutoNum type="arabicPeriod"/>
            </a:pPr>
            <a:r>
              <a:rPr lang="pl-PL"/>
              <a:t>Dla każdej kombinacji sprawdź, czy jest poprawna (żaden sąsiad nie ma tego samego koloru).</a:t>
            </a:r>
          </a:p>
          <a:p>
            <a:pPr lvl="0">
              <a:buFont typeface="Gill Sans MT"/>
              <a:buAutoNum type="arabicPeriod"/>
            </a:pPr>
            <a:r>
              <a:rPr lang="pl-PL"/>
              <a:t>Wybierz ten z najmniejszą liczbą kolorów.</a:t>
            </a:r>
          </a:p>
          <a:p>
            <a:pPr lvl="0">
              <a:buNone/>
            </a:pPr>
            <a:r>
              <a:rPr lang="pl-PL" b="1">
                <a:solidFill>
                  <a:srgbClr val="7F7D54"/>
                </a:solidFill>
              </a:rPr>
              <a:t>Zalety:</a:t>
            </a:r>
            <a:endParaRPr lang="pl-PL">
              <a:solidFill>
                <a:srgbClr val="7F7D54"/>
              </a:solidFill>
            </a:endParaRPr>
          </a:p>
          <a:p>
            <a:pPr lvl="0"/>
            <a:r>
              <a:rPr lang="pl-PL"/>
              <a:t>Gwarantuje optymalne kolorowanie.</a:t>
            </a:r>
          </a:p>
          <a:p>
            <a:pPr lvl="0">
              <a:buNone/>
            </a:pPr>
            <a:r>
              <a:rPr lang="pl-PL" b="1">
                <a:solidFill>
                  <a:srgbClr val="7F7D54"/>
                </a:solidFill>
              </a:rPr>
              <a:t>Wady:</a:t>
            </a:r>
            <a:endParaRPr lang="pl-PL">
              <a:solidFill>
                <a:srgbClr val="7F7D54"/>
              </a:solidFill>
            </a:endParaRPr>
          </a:p>
          <a:p>
            <a:pPr lvl="0"/>
            <a:r>
              <a:rPr lang="pl-PL"/>
              <a:t>Złożoność: wykładnicza – O(kⁿ) dla k kolorów i n wierzchołków.</a:t>
            </a:r>
          </a:p>
          <a:p>
            <a:pPr lvl="0"/>
            <a:r>
              <a:rPr lang="pl-PL"/>
              <a:t>Niewykonalny dla większych grafów (n &gt; 16).</a:t>
            </a:r>
          </a:p>
          <a:p>
            <a:pPr lvl="0"/>
            <a:endParaRPr lang="pl-PL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2" y="355088"/>
            <a:ext cx="1088648" cy="1043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Python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487000" y="4401848"/>
            <a:ext cx="2192008" cy="2101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39155" y="355088"/>
            <a:ext cx="7729724" cy="1188720"/>
          </a:xfrm>
        </p:spPr>
        <p:txBody>
          <a:bodyPr/>
          <a:lstStyle/>
          <a:p>
            <a:pPr lvl="0"/>
            <a:r>
              <a:rPr lang="pl-PL"/>
              <a:t>Backtracking</a:t>
            </a:r>
          </a:p>
        </p:txBody>
      </p:sp>
      <p:sp>
        <p:nvSpPr>
          <p:cNvPr id="3" name="Symbol zastępczy zawartości 2"/>
          <p:cNvSpPr txBox="1">
            <a:spLocks noGrp="1"/>
          </p:cNvSpPr>
          <p:nvPr>
            <p:ph idx="1"/>
          </p:nvPr>
        </p:nvSpPr>
        <p:spPr>
          <a:xfrm>
            <a:off x="256672" y="1668377"/>
            <a:ext cx="11694691" cy="5053267"/>
          </a:xfrm>
        </p:spPr>
        <p:txBody>
          <a:bodyPr/>
          <a:lstStyle/>
          <a:p>
            <a:pPr lvl="0">
              <a:lnSpc>
                <a:spcPct val="90000"/>
              </a:lnSpc>
              <a:buNone/>
            </a:pPr>
            <a:r>
              <a:rPr lang="pl-PL" b="1">
                <a:solidFill>
                  <a:srgbClr val="7F7D54"/>
                </a:solidFill>
              </a:rPr>
              <a:t>Opis:</a:t>
            </a:r>
            <a:r>
              <a:rPr lang="pl-PL"/>
              <a:t/>
            </a:r>
            <a:br>
              <a:rPr lang="pl-PL"/>
            </a:br>
            <a:r>
              <a:rPr lang="pl-PL"/>
              <a:t>Rekurencyjna wersja Brute Force z optymalizacją. Gdy znajdzie konflikt, </a:t>
            </a:r>
            <a:r>
              <a:rPr lang="pl-PL" b="1"/>
              <a:t>cofa się</a:t>
            </a:r>
            <a:r>
              <a:rPr lang="pl-PL"/>
              <a:t> i próbuje inny kolor – dzięki temu przeszukuje tylko część przestrzeni rozwiązań.</a:t>
            </a:r>
          </a:p>
          <a:p>
            <a:pPr lvl="0">
              <a:lnSpc>
                <a:spcPct val="90000"/>
              </a:lnSpc>
              <a:buNone/>
            </a:pPr>
            <a:r>
              <a:rPr lang="pl-PL" b="1">
                <a:solidFill>
                  <a:srgbClr val="7F7D54"/>
                </a:solidFill>
              </a:rPr>
              <a:t>Kroki:</a:t>
            </a:r>
            <a:endParaRPr lang="pl-PL">
              <a:solidFill>
                <a:srgbClr val="7F7D54"/>
              </a:solidFill>
            </a:endParaRPr>
          </a:p>
          <a:p>
            <a:pPr lvl="0">
              <a:lnSpc>
                <a:spcPct val="90000"/>
              </a:lnSpc>
              <a:buFont typeface="Gill Sans MT"/>
              <a:buAutoNum type="arabicPeriod"/>
            </a:pPr>
            <a:r>
              <a:rPr lang="pl-PL"/>
              <a:t>Dla każdego wierzchołka:</a:t>
            </a:r>
          </a:p>
          <a:p>
            <a:pPr marL="742950" lvl="1" indent="-285750">
              <a:lnSpc>
                <a:spcPct val="90000"/>
              </a:lnSpc>
              <a:buFont typeface="Gill Sans MT"/>
              <a:buAutoNum type="arabicPeriod"/>
            </a:pPr>
            <a:r>
              <a:rPr lang="pl-PL"/>
              <a:t>Przypisz kolor, jeśli jest bezpieczny (nie ma konfliktu z sąsiadami).</a:t>
            </a:r>
          </a:p>
          <a:p>
            <a:pPr marL="742950" lvl="1" indent="-285750">
              <a:lnSpc>
                <a:spcPct val="90000"/>
              </a:lnSpc>
              <a:buFont typeface="Gill Sans MT"/>
              <a:buAutoNum type="arabicPeriod"/>
            </a:pPr>
            <a:r>
              <a:rPr lang="pl-PL"/>
              <a:t>Przejdź do kolejnego wierzchołka.</a:t>
            </a:r>
          </a:p>
          <a:p>
            <a:pPr lvl="0">
              <a:lnSpc>
                <a:spcPct val="90000"/>
              </a:lnSpc>
              <a:buFont typeface="Gill Sans MT"/>
              <a:buAutoNum type="arabicPeriod"/>
            </a:pPr>
            <a:r>
              <a:rPr lang="pl-PL"/>
              <a:t>Jeśli nie ma możliwości – cofnij się i spróbuj inny kolor.</a:t>
            </a:r>
          </a:p>
          <a:p>
            <a:pPr lvl="0">
              <a:lnSpc>
                <a:spcPct val="90000"/>
              </a:lnSpc>
              <a:buFont typeface="Gill Sans MT"/>
              <a:buAutoNum type="arabicPeriod"/>
            </a:pPr>
            <a:r>
              <a:rPr lang="pl-PL"/>
              <a:t>Jeśli kolorowanie zakończy się sukcesem – zapisz wynik.</a:t>
            </a:r>
          </a:p>
          <a:p>
            <a:pPr lvl="0">
              <a:lnSpc>
                <a:spcPct val="90000"/>
              </a:lnSpc>
              <a:buNone/>
            </a:pPr>
            <a:r>
              <a:rPr lang="pl-PL" b="1">
                <a:solidFill>
                  <a:srgbClr val="7F7D54"/>
                </a:solidFill>
              </a:rPr>
              <a:t>Zalety:</a:t>
            </a:r>
            <a:endParaRPr lang="pl-PL">
              <a:solidFill>
                <a:srgbClr val="7F7D54"/>
              </a:solidFill>
            </a:endParaRPr>
          </a:p>
          <a:p>
            <a:pPr lvl="0">
              <a:lnSpc>
                <a:spcPct val="90000"/>
              </a:lnSpc>
            </a:pPr>
            <a:r>
              <a:rPr lang="pl-PL"/>
              <a:t>Znacznie szybszy niż Brute Force dzięki eliminowaniu błędnych ścieżek.</a:t>
            </a:r>
          </a:p>
          <a:p>
            <a:pPr lvl="0">
              <a:lnSpc>
                <a:spcPct val="90000"/>
              </a:lnSpc>
            </a:pPr>
            <a:r>
              <a:rPr lang="pl-PL"/>
              <a:t>Nadaje się dla średnich grafów.</a:t>
            </a:r>
          </a:p>
          <a:p>
            <a:pPr lvl="0">
              <a:lnSpc>
                <a:spcPct val="90000"/>
              </a:lnSpc>
              <a:buNone/>
            </a:pPr>
            <a:r>
              <a:rPr lang="pl-PL" b="1">
                <a:solidFill>
                  <a:srgbClr val="7F7D54"/>
                </a:solidFill>
              </a:rPr>
              <a:t>Wady:</a:t>
            </a:r>
            <a:endParaRPr lang="pl-PL">
              <a:solidFill>
                <a:srgbClr val="7F7D54"/>
              </a:solidFill>
            </a:endParaRPr>
          </a:p>
          <a:p>
            <a:pPr lvl="0">
              <a:lnSpc>
                <a:spcPct val="90000"/>
              </a:lnSpc>
            </a:pPr>
            <a:r>
              <a:rPr lang="pl-PL"/>
              <a:t>Nadal wykładnicza złożoność w najgorszym przypadku.</a:t>
            </a:r>
          </a:p>
          <a:p>
            <a:pPr lvl="0">
              <a:lnSpc>
                <a:spcPct val="90000"/>
              </a:lnSpc>
            </a:pPr>
            <a:endParaRPr lang="pl-PL"/>
          </a:p>
        </p:txBody>
      </p:sp>
      <p:pic>
        <p:nvPicPr>
          <p:cNvPr id="4" name="Picture 2" descr="Python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487000" y="4401848"/>
            <a:ext cx="2192008" cy="2101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72" y="355088"/>
            <a:ext cx="1088648" cy="1043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/>
          <p:cNvSpPr txBox="1">
            <a:spLocks noGrp="1"/>
          </p:cNvSpPr>
          <p:nvPr>
            <p:ph type="body" idx="1"/>
          </p:nvPr>
        </p:nvSpPr>
        <p:spPr>
          <a:xfrm>
            <a:off x="0" y="1508165"/>
            <a:ext cx="5853687" cy="2909456"/>
          </a:xfrm>
        </p:spPr>
        <p:txBody>
          <a:bodyPr/>
          <a:lstStyle/>
          <a:p>
            <a:pPr lvl="0">
              <a:lnSpc>
                <a:spcPct val="90000"/>
              </a:lnSpc>
            </a:pPr>
            <a:r>
              <a:rPr lang="pl-PL" sz="1800" b="1">
                <a:solidFill>
                  <a:srgbClr val="7F7D54"/>
                </a:solidFill>
              </a:rPr>
              <a:t>Pętla Algorytmu LF :</a:t>
            </a:r>
          </a:p>
          <a:p>
            <a:pPr marL="342900" lvl="0" indent="-342900" algn="l">
              <a:lnSpc>
                <a:spcPct val="90000"/>
              </a:lnSpc>
              <a:buChar char="•"/>
            </a:pPr>
            <a:r>
              <a:rPr lang="pl-PL" sz="1800" cap="none">
                <a:solidFill>
                  <a:srgbClr val="FFFFFF"/>
                </a:solidFill>
                <a:cs typeface="Arial" pitchFamily="34"/>
              </a:rPr>
              <a:t>Sortuje wierzchołki malejąco według liczby sąsiadów.</a:t>
            </a:r>
          </a:p>
          <a:p>
            <a:pPr marL="342900" lvl="0" indent="-342900" algn="l">
              <a:lnSpc>
                <a:spcPct val="90000"/>
              </a:lnSpc>
              <a:buChar char="•"/>
            </a:pPr>
            <a:r>
              <a:rPr lang="pl-PL" sz="1800" cap="none">
                <a:solidFill>
                  <a:srgbClr val="FFFFFF"/>
                </a:solidFill>
                <a:cs typeface="Arial" pitchFamily="34"/>
              </a:rPr>
              <a:t>Dla każdego wierzchołka (for w) wybiera </a:t>
            </a:r>
            <a:r>
              <a:rPr lang="pl-PL" sz="1800" b="1" cap="none">
                <a:solidFill>
                  <a:srgbClr val="FFFFFF"/>
                </a:solidFill>
                <a:cs typeface="Arial" pitchFamily="34"/>
              </a:rPr>
              <a:t>najmniejszy dostępny kolor.</a:t>
            </a:r>
            <a:endParaRPr lang="pl-PL" sz="1800" cap="none">
              <a:solidFill>
                <a:srgbClr val="FFFFFF"/>
              </a:solidFill>
              <a:cs typeface="Arial" pitchFamily="34"/>
            </a:endParaRPr>
          </a:p>
          <a:p>
            <a:pPr marL="342900" lvl="0" indent="-342900" algn="l">
              <a:lnSpc>
                <a:spcPct val="90000"/>
              </a:lnSpc>
              <a:buChar char="•"/>
            </a:pPr>
            <a:r>
              <a:rPr lang="pl-PL" sz="1800" cap="none">
                <a:solidFill>
                  <a:srgbClr val="FFFFFF"/>
                </a:solidFill>
                <a:cs typeface="Arial" pitchFamily="34"/>
              </a:rPr>
              <a:t>Wewnętrzna pętla (while) sprawdza, czy kolor jest już zajęty przez sąsiadów.</a:t>
            </a:r>
          </a:p>
          <a:p>
            <a:pPr lvl="0" algn="l">
              <a:lnSpc>
                <a:spcPct val="90000"/>
              </a:lnSpc>
            </a:pPr>
            <a:r>
              <a:rPr lang="pl-PL" sz="1800" cap="none">
                <a:solidFill>
                  <a:srgbClr val="FFFFFF"/>
                </a:solidFill>
                <a:cs typeface="Arial" pitchFamily="34"/>
              </a:rPr>
              <a:t>Działa bardzo szybko – tylko lokalnie sprawdza sąsiedztwo.</a:t>
            </a:r>
          </a:p>
        </p:txBody>
      </p:sp>
      <p:sp>
        <p:nvSpPr>
          <p:cNvPr id="3" name="Symbol zastępczy tekstu 4"/>
          <p:cNvSpPr txBox="1">
            <a:spLocks noGrp="1"/>
          </p:cNvSpPr>
          <p:nvPr>
            <p:ph type="body" idx="3"/>
          </p:nvPr>
        </p:nvSpPr>
        <p:spPr>
          <a:xfrm>
            <a:off x="6134096" y="1484418"/>
            <a:ext cx="6057899" cy="2906612"/>
          </a:xfrm>
        </p:spPr>
        <p:txBody>
          <a:bodyPr/>
          <a:lstStyle/>
          <a:p>
            <a:pPr lvl="0">
              <a:lnSpc>
                <a:spcPct val="90000"/>
              </a:lnSpc>
            </a:pPr>
            <a:r>
              <a:rPr lang="pl-PL" sz="1800" b="1">
                <a:solidFill>
                  <a:srgbClr val="7F7D54"/>
                </a:solidFill>
              </a:rPr>
              <a:t>Pętla Algorytmu SL :</a:t>
            </a:r>
            <a:endParaRPr lang="pl-PL" sz="1800" b="1"/>
          </a:p>
          <a:p>
            <a:pPr marL="342900" lvl="0" indent="-342900" algn="l">
              <a:lnSpc>
                <a:spcPct val="90000"/>
              </a:lnSpc>
              <a:buChar char="•"/>
            </a:pPr>
            <a:r>
              <a:rPr lang="pl-PL" sz="1800" cap="none">
                <a:solidFill>
                  <a:srgbClr val="FFFFFF"/>
                </a:solidFill>
              </a:rPr>
              <a:t>Pętla while usuwa iteracyjnie wierzchołki o najmniejszym stopniu.</a:t>
            </a:r>
          </a:p>
          <a:p>
            <a:pPr marL="342900" lvl="0" indent="-342900" algn="l">
              <a:lnSpc>
                <a:spcPct val="90000"/>
              </a:lnSpc>
              <a:buChar char="•"/>
            </a:pPr>
            <a:r>
              <a:rPr lang="pl-PL" sz="1800" cap="none">
                <a:solidFill>
                  <a:srgbClr val="FFFFFF"/>
                </a:solidFill>
              </a:rPr>
              <a:t>Tworzy listę, która będzie kolorowana </a:t>
            </a:r>
            <a:r>
              <a:rPr lang="pl-PL" sz="1800" b="1" cap="none">
                <a:solidFill>
                  <a:srgbClr val="FFFFFF"/>
                </a:solidFill>
              </a:rPr>
              <a:t>odwrotnie.</a:t>
            </a:r>
            <a:endParaRPr lang="pl-PL" sz="1800" cap="none">
              <a:solidFill>
                <a:srgbClr val="FFFFFF"/>
              </a:solidFill>
            </a:endParaRPr>
          </a:p>
          <a:p>
            <a:pPr marL="342900" lvl="0" indent="-342900" algn="l">
              <a:lnSpc>
                <a:spcPct val="90000"/>
              </a:lnSpc>
              <a:buChar char="•"/>
            </a:pPr>
            <a:r>
              <a:rPr lang="pl-PL" sz="1800" cap="none">
                <a:solidFill>
                  <a:srgbClr val="FFFFFF"/>
                </a:solidFill>
              </a:rPr>
              <a:t>Dalsze kolorowanie jak w LF – ta sama zachlanny_ogolny.</a:t>
            </a:r>
          </a:p>
          <a:p>
            <a:pPr lvl="0" algn="l">
              <a:lnSpc>
                <a:spcPct val="90000"/>
              </a:lnSpc>
            </a:pPr>
            <a:r>
              <a:rPr lang="pl-PL" sz="1800" cap="none">
                <a:solidFill>
                  <a:srgbClr val="FFFFFF"/>
                </a:solidFill>
              </a:rPr>
              <a:t>To tak zwana </a:t>
            </a:r>
            <a:r>
              <a:rPr lang="pl-PL" sz="1800" b="1" cap="none">
                <a:solidFill>
                  <a:srgbClr val="FFFFFF"/>
                </a:solidFill>
              </a:rPr>
              <a:t>Degeneracja grafu</a:t>
            </a:r>
            <a:r>
              <a:rPr lang="pl-PL" sz="1800" cap="none">
                <a:solidFill>
                  <a:srgbClr val="FFFFFF"/>
                </a:solidFill>
              </a:rPr>
              <a:t>. Działa lepiej niż LF, bo zaczyna od najłatwiejszych wierzchołków.</a:t>
            </a:r>
          </a:p>
        </p:txBody>
      </p:sp>
      <p:sp>
        <p:nvSpPr>
          <p:cNvPr id="4" name="Tytuł 5"/>
          <p:cNvSpPr txBox="1">
            <a:spLocks noGrp="1"/>
          </p:cNvSpPr>
          <p:nvPr>
            <p:ph type="title"/>
          </p:nvPr>
        </p:nvSpPr>
        <p:spPr>
          <a:xfrm>
            <a:off x="2243014" y="287798"/>
            <a:ext cx="7729724" cy="1188720"/>
          </a:xfrm>
        </p:spPr>
        <p:txBody>
          <a:bodyPr/>
          <a:lstStyle/>
          <a:p>
            <a:pPr lvl="0"/>
            <a:r>
              <a:rPr lang="pl-PL"/>
              <a:t>Działanie pętli Algorytmów zachłannych</a:t>
            </a:r>
          </a:p>
        </p:txBody>
      </p:sp>
      <p:pic>
        <p:nvPicPr>
          <p:cNvPr id="5" name="Picture 2"/>
          <p:cNvPicPr>
            <a:picLocks noGrp="1" noChangeAspect="1"/>
          </p:cNvPicPr>
          <p:nvPr>
            <p:ph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10834" y="4412784"/>
            <a:ext cx="5769982" cy="1763255"/>
          </a:xfrm>
        </p:spPr>
      </p:pic>
      <p:pic>
        <p:nvPicPr>
          <p:cNvPr id="6" name="Picture 3"/>
          <p:cNvPicPr>
            <a:picLocks noGrp="1" noChangeAspect="1"/>
          </p:cNvPicPr>
          <p:nvPr>
            <p:ph idx="4"/>
          </p:nvPr>
        </p:nvPicPr>
        <p:blipFill>
          <a:blip r:embed="rId3"/>
          <a:srcRect/>
          <a:stretch>
            <a:fillRect/>
          </a:stretch>
        </p:blipFill>
        <p:spPr>
          <a:xfrm>
            <a:off x="6135898" y="4388809"/>
            <a:ext cx="5943618" cy="1764343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31136" y="299676"/>
            <a:ext cx="7729724" cy="1188720"/>
          </a:xfrm>
        </p:spPr>
        <p:txBody>
          <a:bodyPr/>
          <a:lstStyle/>
          <a:p>
            <a:pPr lvl="0"/>
            <a:r>
              <a:rPr lang="pl-PL"/>
              <a:t>Działanie pętli Algorytmów zachłannych</a:t>
            </a:r>
          </a:p>
        </p:txBody>
      </p:sp>
      <p:sp>
        <p:nvSpPr>
          <p:cNvPr id="3" name="Symbol zastępczy zawartości 3"/>
          <p:cNvSpPr txBox="1">
            <a:spLocks noGrp="1"/>
          </p:cNvSpPr>
          <p:nvPr>
            <p:ph idx="1"/>
          </p:nvPr>
        </p:nvSpPr>
        <p:spPr>
          <a:xfrm>
            <a:off x="0" y="1543790"/>
            <a:ext cx="6341418" cy="4358240"/>
          </a:xfrm>
        </p:spPr>
        <p:txBody>
          <a:bodyPr/>
          <a:lstStyle/>
          <a:p>
            <a:pPr marL="0" lvl="0" indent="0">
              <a:buNone/>
            </a:pPr>
            <a:r>
              <a:rPr lang="pl-PL" b="1">
                <a:solidFill>
                  <a:srgbClr val="7F7D54"/>
                </a:solidFill>
              </a:rPr>
              <a:t>Pętla Algorytmu SLF :</a:t>
            </a:r>
            <a:endParaRPr lang="pl-PL" b="1"/>
          </a:p>
          <a:p>
            <a:pPr lvl="0"/>
            <a:r>
              <a:rPr lang="pl-PL" b="1"/>
              <a:t>Pętla (while) :</a:t>
            </a:r>
          </a:p>
          <a:p>
            <a:pPr lvl="1"/>
            <a:r>
              <a:rPr lang="pl-PL" sz="1800"/>
              <a:t>działa, dopóki nie pokolorujesz wszystkich wierzchołków</a:t>
            </a:r>
          </a:p>
          <a:p>
            <a:pPr lvl="0"/>
            <a:r>
              <a:rPr lang="pl-PL" b="1"/>
              <a:t>W środku:</a:t>
            </a:r>
          </a:p>
          <a:p>
            <a:pPr lvl="1"/>
            <a:r>
              <a:rPr lang="pl-PL" sz="1800"/>
              <a:t>wybiera </a:t>
            </a:r>
            <a:r>
              <a:rPr lang="pl-PL" sz="1800" b="1"/>
              <a:t>wierzchołek o największym nasyceniu</a:t>
            </a:r>
            <a:r>
              <a:rPr lang="pl-PL" sz="1800"/>
              <a:t>, czyli ma sąsiadów z największą liczbą różnych kolorów.</a:t>
            </a:r>
          </a:p>
          <a:p>
            <a:pPr lvl="1"/>
            <a:r>
              <a:rPr lang="pl-PL" sz="1800"/>
              <a:t>jeśli nasycenia są równe → bierze ten o największym stopniu</a:t>
            </a:r>
          </a:p>
          <a:p>
            <a:pPr lvl="0"/>
            <a:r>
              <a:rPr lang="pl-PL" b="1"/>
              <a:t>Druga pętla (for s in graf.neighbors(w) ) </a:t>
            </a:r>
            <a:r>
              <a:rPr lang="pl-PL"/>
              <a:t>:</a:t>
            </a:r>
          </a:p>
          <a:p>
            <a:pPr lvl="1"/>
            <a:r>
              <a:rPr lang="pl-PL" sz="1800"/>
              <a:t>aktualizuje nasycenie sąsiadów, którzy jeszcze nie są pokolorowani</a:t>
            </a:r>
          </a:p>
          <a:p>
            <a:pPr marL="0" lvl="0" indent="0">
              <a:buNone/>
            </a:pPr>
            <a:r>
              <a:rPr lang="pl-PL"/>
              <a:t>Jest to najbardziej „inteligentna” heurystyka – dynamicznie wybiera najlepszy w danym momencie wierzchołek.</a:t>
            </a:r>
          </a:p>
        </p:txBody>
      </p:sp>
      <p:pic>
        <p:nvPicPr>
          <p:cNvPr id="4" name="Picture 2"/>
          <p:cNvPicPr>
            <a:picLocks noGrp="1" noChangeAspect="1"/>
          </p:cNvPicPr>
          <p:nvPr>
            <p:ph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338885" y="2427393"/>
            <a:ext cx="5714570" cy="2813096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5"/>
          <p:cNvSpPr txBox="1">
            <a:spLocks noGrp="1"/>
          </p:cNvSpPr>
          <p:nvPr>
            <p:ph type="title"/>
          </p:nvPr>
        </p:nvSpPr>
        <p:spPr>
          <a:xfrm>
            <a:off x="2243014" y="774688"/>
            <a:ext cx="7729724" cy="1188720"/>
          </a:xfrm>
        </p:spPr>
        <p:txBody>
          <a:bodyPr/>
          <a:lstStyle/>
          <a:p>
            <a:pPr lvl="0"/>
            <a:r>
              <a:rPr lang="pl-PL"/>
              <a:t>Działanie pętli Algorytmów Dokładnych</a:t>
            </a:r>
          </a:p>
        </p:txBody>
      </p:sp>
      <p:pic>
        <p:nvPicPr>
          <p:cNvPr id="3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756" y="2434443"/>
            <a:ext cx="6192911" cy="2885700"/>
          </a:xfrm>
        </p:spPr>
      </p:pic>
      <p:sp>
        <p:nvSpPr>
          <p:cNvPr id="4" name="Symbol zastępczy tekstu 1"/>
          <p:cNvSpPr txBox="1">
            <a:spLocks noGrp="1"/>
          </p:cNvSpPr>
          <p:nvPr>
            <p:ph idx="2"/>
          </p:nvPr>
        </p:nvSpPr>
        <p:spPr>
          <a:xfrm>
            <a:off x="6338319" y="2090053"/>
            <a:ext cx="5738893" cy="4767946"/>
          </a:xfrm>
        </p:spPr>
        <p:txBody>
          <a:bodyPr/>
          <a:lstStyle/>
          <a:p>
            <a:pPr marL="0" lvl="0" indent="0">
              <a:buNone/>
            </a:pPr>
            <a:r>
              <a:rPr lang="pl-PL" b="1">
                <a:solidFill>
                  <a:srgbClr val="7F7D54"/>
                </a:solidFill>
              </a:rPr>
              <a:t>ALGORYTM BRUTE FORCE :</a:t>
            </a:r>
          </a:p>
          <a:p>
            <a:pPr marL="342900" lvl="0" indent="-342900"/>
            <a:r>
              <a:rPr lang="pl-PL" b="1"/>
              <a:t>Pierwsza pętla (for k)</a:t>
            </a:r>
            <a:r>
              <a:rPr lang="pl-PL"/>
              <a:t>:</a:t>
            </a:r>
          </a:p>
          <a:p>
            <a:pPr marL="800100" lvl="1" indent="-342900"/>
            <a:r>
              <a:rPr lang="pl-PL"/>
              <a:t>Próbuje rosnące liczby kolorów: 1, 2, 3, ..., n.</a:t>
            </a:r>
          </a:p>
          <a:p>
            <a:pPr marL="800100" lvl="1" indent="-342900"/>
            <a:r>
              <a:rPr lang="pl-PL"/>
              <a:t>Celem jest znalezienie minimalnej liczby kolorów, która wystarcza.</a:t>
            </a:r>
          </a:p>
          <a:p>
            <a:pPr marL="342900" lvl="0" indent="-342900"/>
            <a:r>
              <a:rPr lang="pl-PL" b="1"/>
              <a:t>Druga pętla (for kombinacja)</a:t>
            </a:r>
            <a:r>
              <a:rPr lang="pl-PL"/>
              <a:t>:</a:t>
            </a:r>
          </a:p>
          <a:p>
            <a:pPr marL="800100" lvl="1" indent="-342900"/>
            <a:r>
              <a:rPr lang="pl-PL"/>
              <a:t>Generuje wszystkie możliwe kombinacje przypisań kolorów do wierzchołków.</a:t>
            </a:r>
          </a:p>
          <a:p>
            <a:pPr marL="800100" lvl="1" indent="-342900"/>
            <a:r>
              <a:rPr lang="pl-PL"/>
              <a:t>Dla 3 wierzchołków i 2 kolorów: (0,0,0), (0,0,1), (0,1,0), i tak dalej.</a:t>
            </a:r>
          </a:p>
          <a:p>
            <a:pPr marL="800100" lvl="1" indent="-342900"/>
            <a:r>
              <a:rPr lang="pl-PL"/>
              <a:t>Testuje każde przypisanie, aż znajdzie poprawne (takie, że sąsiedzi mają różne kolory).</a:t>
            </a:r>
          </a:p>
          <a:p>
            <a:pPr marL="0" lvl="0" indent="0">
              <a:buNone/>
            </a:pPr>
            <a:r>
              <a:rPr lang="pl-PL" b="1"/>
              <a:t>To pętla brutalna</a:t>
            </a:r>
            <a:r>
              <a:rPr lang="pl-PL"/>
              <a:t> sprawdza wszystkie możliwe opcje, dlatego działa długo.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19257" y="655935"/>
            <a:ext cx="7729724" cy="1188720"/>
          </a:xfrm>
        </p:spPr>
        <p:txBody>
          <a:bodyPr/>
          <a:lstStyle/>
          <a:p>
            <a:pPr lvl="0"/>
            <a:r>
              <a:rPr lang="pl-PL"/>
              <a:t>Działanie pętli Algorytmów Dokładnych</a:t>
            </a:r>
          </a:p>
        </p:txBody>
      </p:sp>
      <p:sp>
        <p:nvSpPr>
          <p:cNvPr id="3" name="Symbol zastępczy zawartości 3"/>
          <p:cNvSpPr txBox="1">
            <a:spLocks noGrp="1"/>
          </p:cNvSpPr>
          <p:nvPr>
            <p:ph idx="1"/>
          </p:nvPr>
        </p:nvSpPr>
        <p:spPr>
          <a:xfrm>
            <a:off x="6329549" y="1947553"/>
            <a:ext cx="5735784" cy="4797628"/>
          </a:xfrm>
        </p:spPr>
        <p:txBody>
          <a:bodyPr/>
          <a:lstStyle/>
          <a:p>
            <a:pPr marL="0" lvl="0" indent="0">
              <a:buNone/>
            </a:pPr>
            <a:r>
              <a:rPr lang="pl-PL" sz="1700" b="1">
                <a:solidFill>
                  <a:srgbClr val="7F7D54"/>
                </a:solidFill>
              </a:rPr>
              <a:t>ALGORYTM BACKTRACKING :</a:t>
            </a:r>
          </a:p>
          <a:p>
            <a:pPr marL="0" lvl="0" indent="0">
              <a:buNone/>
            </a:pPr>
            <a:r>
              <a:rPr lang="pl-PL" sz="1700" b="1"/>
              <a:t>Główna pętla:</a:t>
            </a:r>
          </a:p>
          <a:p>
            <a:pPr lvl="0"/>
            <a:r>
              <a:rPr lang="pl-PL" sz="1700"/>
              <a:t>Przechodzi przez rosnące liczby kolorów, tak jak Brute Force, ale tylko </a:t>
            </a:r>
            <a:r>
              <a:rPr lang="pl-PL" sz="1700" b="1"/>
              <a:t>jeden raz dla każdego</a:t>
            </a:r>
            <a:r>
              <a:rPr lang="pl-PL" sz="1700"/>
              <a:t> k.</a:t>
            </a:r>
          </a:p>
          <a:p>
            <a:pPr lvl="0"/>
            <a:r>
              <a:rPr lang="pl-PL" sz="1700"/>
              <a:t>Jeśli znajdzie poprawne przypisanie, kończy od razu.</a:t>
            </a:r>
          </a:p>
          <a:p>
            <a:pPr marL="0" lvl="0" indent="0">
              <a:buNone/>
            </a:pPr>
            <a:r>
              <a:rPr lang="pl-PL" sz="1700" b="1"/>
              <a:t>Rekurencyjna pętla ukryta w funkcji ( rekurencja(...) ) :</a:t>
            </a:r>
          </a:p>
          <a:p>
            <a:pPr lvl="0"/>
            <a:r>
              <a:rPr lang="pl-PL" sz="1700"/>
              <a:t>Przechodzi przez możliwe kolory (od 0 do maks - 1) .</a:t>
            </a:r>
          </a:p>
          <a:p>
            <a:pPr lvl="0"/>
            <a:r>
              <a:rPr lang="pl-PL" sz="1700"/>
              <a:t>Sprawdza, czy można przypisać kolor bez konfliktu z sąsiadami.</a:t>
            </a:r>
          </a:p>
          <a:p>
            <a:pPr lvl="0"/>
            <a:r>
              <a:rPr lang="pl-PL" sz="1700"/>
              <a:t>Jeśli się nie uda → </a:t>
            </a:r>
            <a:r>
              <a:rPr lang="pl-PL" sz="1700" b="1"/>
              <a:t>cofa się (Backtrack)</a:t>
            </a:r>
            <a:r>
              <a:rPr lang="pl-PL" sz="1700"/>
              <a:t> i próbuje inne przypisanie.</a:t>
            </a:r>
          </a:p>
          <a:p>
            <a:pPr marL="0" lvl="0" indent="0">
              <a:buNone/>
            </a:pPr>
            <a:r>
              <a:rPr lang="pl-PL" sz="1700" b="1"/>
              <a:t>Nie generuje wszystkich kombinacji</a:t>
            </a:r>
            <a:r>
              <a:rPr lang="pl-PL" sz="1700"/>
              <a:t>, tylko buduje rozwiązanie krok po kroku i wycofuje się, jeśli trafia w ślepy zaułek.</a:t>
            </a:r>
          </a:p>
        </p:txBody>
      </p:sp>
      <p:pic>
        <p:nvPicPr>
          <p:cNvPr id="4" name="Picture 2"/>
          <p:cNvPicPr>
            <a:picLocks noGrp="1" noChangeAspect="1"/>
          </p:cNvPicPr>
          <p:nvPr>
            <p:ph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54378" y="2007181"/>
            <a:ext cx="5913909" cy="471887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3"/>
          <p:cNvSpPr txBox="1">
            <a:spLocks noGrp="1"/>
          </p:cNvSpPr>
          <p:nvPr>
            <p:ph type="title"/>
          </p:nvPr>
        </p:nvSpPr>
        <p:spPr>
          <a:xfrm>
            <a:off x="2217484" y="227713"/>
            <a:ext cx="7729724" cy="1188720"/>
          </a:xfrm>
        </p:spPr>
        <p:txBody>
          <a:bodyPr/>
          <a:lstStyle/>
          <a:p>
            <a:pPr lvl="0"/>
            <a:r>
              <a:rPr lang="pl-PL"/>
              <a:t>Wyniki Programu kolorującego grafy</a:t>
            </a:r>
          </a:p>
        </p:txBody>
      </p:sp>
      <p:sp>
        <p:nvSpPr>
          <p:cNvPr id="3" name="Symbol zastępczy zawartości 4"/>
          <p:cNvSpPr txBox="1">
            <a:spLocks noGrp="1"/>
          </p:cNvSpPr>
          <p:nvPr>
            <p:ph idx="1"/>
          </p:nvPr>
        </p:nvSpPr>
        <p:spPr>
          <a:xfrm>
            <a:off x="204715" y="1610432"/>
            <a:ext cx="5648971" cy="4129585"/>
          </a:xfrm>
        </p:spPr>
        <p:txBody>
          <a:bodyPr/>
          <a:lstStyle/>
          <a:p>
            <a:pPr marL="0" lvl="0" indent="0">
              <a:lnSpc>
                <a:spcPct val="90000"/>
              </a:lnSpc>
              <a:buNone/>
            </a:pPr>
            <a:r>
              <a:rPr lang="pl-PL"/>
              <a:t>Po uruchomieniu programu, każdy z algorytmów kolorowania grafu jest wykonywany na tym samym losowo wygenerowanym grafie. Program mierzy czas działania każdego algorytmu oraz liczy, ile kolorów zostało użytych do pokolorowania grafu. Wyniki są prezentowane w formie czytelnej tabeli w terminalu, dzięki czemu można je łatwo porównać. Dodatkowo program generuje dwa wykresy – jeden przedstawia czas działania algorytmów, a drugi pokazuje liczbę kolorów użytych przez każdy z nich. Oprócz tego, dla każdego algorytmu wyświetlana jest wizualizacja grafu z nałożonym kolorowaniem, co umożliwia graficzne porównanie wyników. Jeśli graf ma zbyt dużo wierzchołków, niektóre algorytmy, na przykład  Brute Force, są pomijane, aby uniknąć długiego czasu obliczeń.</a:t>
            </a:r>
          </a:p>
        </p:txBody>
      </p:sp>
      <p:pic>
        <p:nvPicPr>
          <p:cNvPr id="4" name="Symbol zastępczy zawartości 6"/>
          <p:cNvPicPr>
            <a:picLocks noGrp="1" noChangeAspect="1"/>
          </p:cNvPicPr>
          <p:nvPr>
            <p:ph idx="2"/>
          </p:nvPr>
        </p:nvPicPr>
        <p:blipFill>
          <a:blip r:embed="rId2"/>
          <a:stretch>
            <a:fillRect/>
          </a:stretch>
        </p:blipFill>
        <p:spPr>
          <a:xfrm>
            <a:off x="6177878" y="1613842"/>
            <a:ext cx="1828800" cy="1371600"/>
          </a:xfrm>
        </p:spPr>
      </p:pic>
      <p:pic>
        <p:nvPicPr>
          <p:cNvPr id="5" name="Obraz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678" y="1613842"/>
            <a:ext cx="18288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braz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5487" y="1613842"/>
            <a:ext cx="18288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raz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7878" y="2985442"/>
            <a:ext cx="18288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Obraz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6678" y="2985442"/>
            <a:ext cx="18288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Obraz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7878" y="4357042"/>
            <a:ext cx="2743209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Obraz 13"/>
          <p:cNvPicPr>
            <a:picLocks noChangeAspect="1"/>
          </p:cNvPicPr>
          <p:nvPr/>
        </p:nvPicPr>
        <p:blipFill>
          <a:blip r:embed="rId8"/>
          <a:srcRect r="53148" b="37500"/>
          <a:stretch>
            <a:fillRect/>
          </a:stretch>
        </p:blipFill>
        <p:spPr>
          <a:xfrm>
            <a:off x="9835487" y="2985442"/>
            <a:ext cx="18288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Obraz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1078" y="4357042"/>
            <a:ext cx="2743209" cy="1645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3"/>
          <p:cNvSpPr txBox="1">
            <a:spLocks noGrp="1"/>
          </p:cNvSpPr>
          <p:nvPr>
            <p:ph type="title"/>
          </p:nvPr>
        </p:nvSpPr>
        <p:spPr>
          <a:xfrm>
            <a:off x="2231136" y="295954"/>
            <a:ext cx="7729724" cy="1188720"/>
          </a:xfrm>
        </p:spPr>
        <p:txBody>
          <a:bodyPr/>
          <a:lstStyle/>
          <a:p>
            <a:pPr lvl="0"/>
            <a:r>
              <a:rPr lang="pl-PL" sz="2500"/>
              <a:t>Analiza problemu kolorowania grafów przy pomocy Algorytmów zachłannych</a:t>
            </a:r>
          </a:p>
        </p:txBody>
      </p:sp>
      <p:sp>
        <p:nvSpPr>
          <p:cNvPr id="3" name="Symbol zastępczy zawartości 4"/>
          <p:cNvSpPr txBox="1">
            <a:spLocks noGrp="1"/>
          </p:cNvSpPr>
          <p:nvPr>
            <p:ph idx="1"/>
          </p:nvPr>
        </p:nvSpPr>
        <p:spPr>
          <a:xfrm>
            <a:off x="109179" y="1514904"/>
            <a:ext cx="7219663" cy="5343095"/>
          </a:xfrm>
        </p:spPr>
        <p:txBody>
          <a:bodyPr/>
          <a:lstStyle/>
          <a:p>
            <a:pPr marL="0" lvl="0" indent="0">
              <a:lnSpc>
                <a:spcPct val="80000"/>
              </a:lnSpc>
              <a:buNone/>
            </a:pPr>
            <a:r>
              <a:rPr lang="pl-PL" sz="1700"/>
              <a:t>Na potrzeby projektu i analizy problemu kolorowania grafów wybraliśmy losowy graf o 10 wierzchołkach oraz prawdopodobieństwie krawędzi wynoszącym 0.4. Kolorowanie przeprowadzono za pomocą trzech algorytmów zachłannych: </a:t>
            </a:r>
          </a:p>
          <a:p>
            <a:pPr lvl="0">
              <a:lnSpc>
                <a:spcPct val="80000"/>
              </a:lnSpc>
            </a:pPr>
            <a:r>
              <a:rPr lang="pl-PL" sz="1700" b="1"/>
              <a:t>LF (Largest First)</a:t>
            </a:r>
            <a:r>
              <a:rPr lang="pl-PL" sz="1700"/>
              <a:t>,</a:t>
            </a:r>
          </a:p>
          <a:p>
            <a:pPr lvl="0">
              <a:lnSpc>
                <a:spcPct val="80000"/>
              </a:lnSpc>
            </a:pPr>
            <a:r>
              <a:rPr lang="pl-PL" sz="1700" b="1"/>
              <a:t>SL (Smallest Last)</a:t>
            </a:r>
            <a:r>
              <a:rPr lang="pl-PL" sz="1700"/>
              <a:t>.</a:t>
            </a:r>
          </a:p>
          <a:p>
            <a:pPr lvl="0">
              <a:lnSpc>
                <a:spcPct val="80000"/>
              </a:lnSpc>
            </a:pPr>
            <a:r>
              <a:rPr lang="pl-PL" sz="1700" b="1"/>
              <a:t>SLF (Saturation Largest First / DSATUR).</a:t>
            </a:r>
            <a:endParaRPr lang="pl-PL" sz="1700"/>
          </a:p>
          <a:p>
            <a:pPr marL="0" lvl="0" indent="0">
              <a:lnSpc>
                <a:spcPct val="80000"/>
              </a:lnSpc>
              <a:buNone/>
            </a:pPr>
            <a:r>
              <a:rPr lang="pl-PL" sz="1700"/>
              <a:t>Dla każdego algorytmu zachłannego wypisywano:</a:t>
            </a:r>
          </a:p>
          <a:p>
            <a:pPr lvl="0">
              <a:lnSpc>
                <a:spcPct val="80000"/>
              </a:lnSpc>
            </a:pPr>
            <a:r>
              <a:rPr lang="pl-PL" sz="1700"/>
              <a:t>aktualnie kolorowany wierzchołek,</a:t>
            </a:r>
          </a:p>
          <a:p>
            <a:pPr lvl="0">
              <a:lnSpc>
                <a:spcPct val="80000"/>
              </a:lnSpc>
            </a:pPr>
            <a:r>
              <a:rPr lang="pl-PL" sz="1700"/>
              <a:t>jego sąsiadów,</a:t>
            </a:r>
          </a:p>
          <a:p>
            <a:pPr lvl="0">
              <a:lnSpc>
                <a:spcPct val="80000"/>
              </a:lnSpc>
            </a:pPr>
            <a:r>
              <a:rPr lang="pl-PL" sz="1700"/>
              <a:t>kolory już zajęte przez sąsiadów,</a:t>
            </a:r>
          </a:p>
          <a:p>
            <a:pPr lvl="0">
              <a:lnSpc>
                <a:spcPct val="80000"/>
              </a:lnSpc>
            </a:pPr>
            <a:r>
              <a:rPr lang="pl-PL" sz="1700"/>
              <a:t>kolor przypisany do danego wierzchołka.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pl-PL" sz="1700"/>
              <a:t>Każdy z algorytmów przyjął inną strategię ustalania kolejności kolorowania, co wpłynęło na rozkład kolorów w grafie. Pomimo tego, wszystkie działały zgodnie z zasadą zachłanności – przypisywały wierzchołkom pierwszy możliwy kolor, który nie występował jeszcze w ich bezpośrednim sąsiedztwie. Prezentowane wyniki pozwalają na dokładne prześledzenie działania poszczególnych metod i porównanie ich efektywności oraz różnic w podejściu do problemu kolorowania grafu.</a:t>
            </a:r>
          </a:p>
        </p:txBody>
      </p:sp>
      <p:pic>
        <p:nvPicPr>
          <p:cNvPr id="4" name="Picture 4"/>
          <p:cNvPicPr>
            <a:picLocks noGrp="1" noChangeAspect="1"/>
          </p:cNvPicPr>
          <p:nvPr>
            <p:ph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7388717" y="1596295"/>
            <a:ext cx="4594018" cy="5042998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39155" y="355088"/>
            <a:ext cx="7729724" cy="1188720"/>
          </a:xfrm>
        </p:spPr>
        <p:txBody>
          <a:bodyPr/>
          <a:lstStyle/>
          <a:p>
            <a:pPr lvl="0"/>
            <a:r>
              <a:rPr lang="pl-PL"/>
              <a:t>wyniki dla grafów z 12 wierzchołkami przy 20 próbach</a:t>
            </a:r>
          </a:p>
        </p:txBody>
      </p:sp>
      <p:pic>
        <p:nvPicPr>
          <p:cNvPr id="3" name="Symbol zastępczy zawartości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9306" y="1713439"/>
            <a:ext cx="5243507" cy="2990673"/>
          </a:xfrm>
        </p:spPr>
      </p:pic>
      <p:pic>
        <p:nvPicPr>
          <p:cNvPr id="4" name="Picture 2" descr="Python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68880" y="4704112"/>
            <a:ext cx="2192008" cy="2101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Obraz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72" y="355088"/>
            <a:ext cx="1088648" cy="1043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braz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82" y="1706407"/>
            <a:ext cx="5243507" cy="2997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raz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5995" y="4959797"/>
            <a:ext cx="4959230" cy="1746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31136" y="290925"/>
            <a:ext cx="7729724" cy="1188720"/>
          </a:xfrm>
        </p:spPr>
        <p:txBody>
          <a:bodyPr/>
          <a:lstStyle/>
          <a:p>
            <a:pPr lvl="0"/>
            <a:r>
              <a:rPr lang="pl-PL"/>
              <a:t>Wnioski dla grafów z 12 wierzchołkami przy 20 próbach</a:t>
            </a:r>
          </a:p>
        </p:txBody>
      </p:sp>
      <p:sp>
        <p:nvSpPr>
          <p:cNvPr id="3" name="Symbol zastępczy zawartości 2"/>
          <p:cNvSpPr txBox="1">
            <a:spLocks noGrp="1"/>
          </p:cNvSpPr>
          <p:nvPr>
            <p:ph idx="1"/>
          </p:nvPr>
        </p:nvSpPr>
        <p:spPr>
          <a:xfrm>
            <a:off x="0" y="1611986"/>
            <a:ext cx="12191996" cy="5175311"/>
          </a:xfrm>
        </p:spPr>
        <p:txBody>
          <a:bodyPr/>
          <a:lstStyle/>
          <a:p>
            <a:pPr marL="0" lvl="0" indent="0">
              <a:lnSpc>
                <a:spcPct val="90000"/>
              </a:lnSpc>
              <a:spcAft>
                <a:spcPts val="1030"/>
              </a:spcAft>
              <a:buNone/>
            </a:pPr>
            <a:r>
              <a:rPr lang="pl-PL" sz="1600">
                <a:solidFill>
                  <a:srgbClr val="7F7D54"/>
                </a:solidFill>
              </a:rPr>
              <a:t>Efektywność czasowa:</a:t>
            </a:r>
          </a:p>
          <a:p>
            <a:pPr lvl="0">
              <a:lnSpc>
                <a:spcPct val="90000"/>
              </a:lnSpc>
              <a:spcAft>
                <a:spcPts val="1030"/>
              </a:spcAft>
            </a:pPr>
            <a:r>
              <a:rPr lang="pl-PL" sz="1600"/>
              <a:t>Algorytm LF (Largest First) okazał się najszybszy (średni czas: ~0,000107s), co jest typowe dla prostych algorytmów zachłannych.</a:t>
            </a:r>
          </a:p>
          <a:p>
            <a:pPr lvl="0">
              <a:lnSpc>
                <a:spcPct val="90000"/>
              </a:lnSpc>
              <a:spcAft>
                <a:spcPts val="1030"/>
              </a:spcAft>
            </a:pPr>
            <a:r>
              <a:rPr lang="pl-PL" sz="1600"/>
              <a:t>Algorytm SL (Smallest Last) był około 4x wolniejszy od LF (~0,000436s), ale nadal bardzo szybki.</a:t>
            </a:r>
          </a:p>
          <a:p>
            <a:pPr lvl="0">
              <a:lnSpc>
                <a:spcPct val="90000"/>
              </a:lnSpc>
              <a:spcAft>
                <a:spcPts val="1030"/>
              </a:spcAft>
            </a:pPr>
            <a:r>
              <a:rPr lang="pl-PL" sz="1600"/>
              <a:t>SLF zajmował pozycję pośrednią (~0,000195s).</a:t>
            </a:r>
          </a:p>
          <a:p>
            <a:pPr lvl="0">
              <a:lnSpc>
                <a:spcPct val="90000"/>
              </a:lnSpc>
              <a:spcAft>
                <a:spcPts val="1030"/>
              </a:spcAft>
            </a:pPr>
            <a:r>
              <a:rPr lang="pl-PL" sz="1600"/>
              <a:t>Backtracking był znacząco wolniejszy (~0,0029s), ale nadal praktyczny dla małych grafów.</a:t>
            </a:r>
          </a:p>
          <a:p>
            <a:pPr lvl="0">
              <a:lnSpc>
                <a:spcPct val="90000"/>
              </a:lnSpc>
              <a:spcAft>
                <a:spcPts val="1030"/>
              </a:spcAft>
            </a:pPr>
            <a:r>
              <a:rPr lang="pl-PL" sz="1600"/>
              <a:t>Brute Force był dramatycznie wolniejszy (~2,8s), co potwierdza jego niepraktyczność nawet dla stosunkowo małych grafów (12 wierzchołków).</a:t>
            </a:r>
          </a:p>
          <a:p>
            <a:pPr marL="0" lvl="0" indent="0">
              <a:lnSpc>
                <a:spcPct val="90000"/>
              </a:lnSpc>
              <a:spcAft>
                <a:spcPts val="1030"/>
              </a:spcAft>
              <a:buNone/>
            </a:pPr>
            <a:r>
              <a:rPr lang="pl-PL" sz="1600">
                <a:solidFill>
                  <a:srgbClr val="7F7D54"/>
                </a:solidFill>
              </a:rPr>
              <a:t>Liczba kolorów:</a:t>
            </a:r>
          </a:p>
          <a:p>
            <a:pPr lvl="0">
              <a:lnSpc>
                <a:spcPct val="90000"/>
              </a:lnSpc>
              <a:spcAft>
                <a:spcPts val="1030"/>
              </a:spcAft>
            </a:pPr>
            <a:r>
              <a:rPr lang="pl-PL" sz="1600"/>
              <a:t>Algorytmy Brute Force i Backtracking osiągnęły najlepsze wyniki (średnio 3,4 koloru), co było do przewidzenia, ponieważ są to algorytmy dokładne.</a:t>
            </a:r>
          </a:p>
          <a:p>
            <a:pPr lvl="0">
              <a:lnSpc>
                <a:spcPct val="90000"/>
              </a:lnSpc>
              <a:spcAft>
                <a:spcPts val="1030"/>
              </a:spcAft>
            </a:pPr>
            <a:r>
              <a:rPr lang="pl-PL" sz="1600"/>
              <a:t>Algorytmy heurystyczne (SL, SLF) osiągnęły bardzo zbliżone wyniki do dokładnych (3,45), co sugeruje ich wysoką skuteczność.</a:t>
            </a:r>
          </a:p>
          <a:p>
            <a:pPr lvl="0">
              <a:lnSpc>
                <a:spcPct val="90000"/>
              </a:lnSpc>
              <a:spcAft>
                <a:spcPts val="1030"/>
              </a:spcAft>
            </a:pPr>
            <a:r>
              <a:rPr lang="pl-PL" sz="1600"/>
              <a:t>Algorytm LF wypadł nieco gorzej (3,55), ale różnica jest stosunkowo niewielka.</a:t>
            </a:r>
          </a:p>
          <a:p>
            <a:pPr marL="0" lvl="0" indent="0">
              <a:lnSpc>
                <a:spcPts val="2145"/>
              </a:lnSpc>
              <a:spcBef>
                <a:spcPts val="300"/>
              </a:spcBef>
              <a:spcAft>
                <a:spcPts val="1030"/>
              </a:spcAft>
              <a:buNone/>
            </a:pPr>
            <a:endParaRPr lang="pl-PL" sz="1500">
              <a:solidFill>
                <a:srgbClr val="404040"/>
              </a:solidFill>
              <a:latin typeface="DeepSeek-CJK-patch"/>
            </a:endParaRP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72" y="355088"/>
            <a:ext cx="1088648" cy="1043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39155" y="355088"/>
            <a:ext cx="7729724" cy="1188720"/>
          </a:xfrm>
        </p:spPr>
        <p:txBody>
          <a:bodyPr/>
          <a:lstStyle/>
          <a:p>
            <a:pPr lvl="0"/>
            <a:r>
              <a:rPr lang="pl-PL"/>
              <a:t>wyniki dla grafów z 100  wierzchołkami przy 20 próbach</a:t>
            </a:r>
          </a:p>
        </p:txBody>
      </p:sp>
      <p:pic>
        <p:nvPicPr>
          <p:cNvPr id="3" name="Picture 2" descr="Python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968880" y="4704112"/>
            <a:ext cx="2192008" cy="2101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72" y="355088"/>
            <a:ext cx="1088648" cy="1043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ymbol zastępczy zawartości 9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617366" y="1699860"/>
            <a:ext cx="4990594" cy="2974588"/>
          </a:xfrm>
        </p:spPr>
      </p:pic>
      <p:pic>
        <p:nvPicPr>
          <p:cNvPr id="6" name="Obraz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70" y="1699860"/>
            <a:ext cx="4967468" cy="2974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raz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0727" y="4938052"/>
            <a:ext cx="4650958" cy="1751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31136" y="290925"/>
            <a:ext cx="7729724" cy="1188720"/>
          </a:xfrm>
        </p:spPr>
        <p:txBody>
          <a:bodyPr/>
          <a:lstStyle/>
          <a:p>
            <a:pPr lvl="0"/>
            <a:r>
              <a:rPr lang="pl-PL"/>
              <a:t>Wnioski dla grafów z 100 wierzchołkami przy 20 próbach</a:t>
            </a:r>
          </a:p>
        </p:txBody>
      </p:sp>
      <p:sp>
        <p:nvSpPr>
          <p:cNvPr id="3" name="Symbol zastępczy zawartości 2"/>
          <p:cNvSpPr txBox="1">
            <a:spLocks noGrp="1"/>
          </p:cNvSpPr>
          <p:nvPr>
            <p:ph idx="1"/>
          </p:nvPr>
        </p:nvSpPr>
        <p:spPr>
          <a:xfrm>
            <a:off x="0" y="1611986"/>
            <a:ext cx="12191996" cy="5175311"/>
          </a:xfrm>
        </p:spPr>
        <p:txBody>
          <a:bodyPr/>
          <a:lstStyle/>
          <a:p>
            <a:pPr marL="0" lvl="0" indent="0">
              <a:lnSpc>
                <a:spcPct val="110000"/>
              </a:lnSpc>
              <a:spcAft>
                <a:spcPts val="1030"/>
              </a:spcAft>
              <a:buNone/>
            </a:pPr>
            <a:r>
              <a:rPr lang="pl-PL" sz="1900">
                <a:solidFill>
                  <a:srgbClr val="7F7D54"/>
                </a:solidFill>
              </a:rPr>
              <a:t>Efektywność czasowa:</a:t>
            </a:r>
          </a:p>
          <a:p>
            <a:pPr lvl="0">
              <a:spcAft>
                <a:spcPts val="1030"/>
              </a:spcAft>
              <a:buFont typeface="Gill Sans MT"/>
              <a:buAutoNum type="arabicPeriod"/>
            </a:pPr>
            <a:r>
              <a:rPr lang="pl-PL"/>
              <a:t>Algorytmy Brute Force i Backtracking zostały oznaczone jako "N/D" (nieokreślone), co sugeruje, że ich czas wykonania dla grafów o 100 wierzchołkach był zbyt długi do praktycznego zastosowania lub nawet niemożliwy do zmierzenia w rozsądnym czasie.</a:t>
            </a:r>
          </a:p>
          <a:p>
            <a:pPr lvl="0">
              <a:spcAft>
                <a:spcPts val="1030"/>
              </a:spcAft>
              <a:buFont typeface="Gill Sans MT"/>
              <a:buAutoNum type="arabicPeriod"/>
            </a:pPr>
            <a:r>
              <a:rPr lang="pl-PL"/>
              <a:t>Algorytmy heurystyczne (LF, SL, SLF) pozostały praktyczne nawet dla większych grafów, co potwierdza ich skalowalność.</a:t>
            </a:r>
          </a:p>
          <a:p>
            <a:pPr marL="0" lvl="0" indent="0">
              <a:lnSpc>
                <a:spcPct val="110000"/>
              </a:lnSpc>
              <a:spcAft>
                <a:spcPts val="1030"/>
              </a:spcAft>
              <a:buNone/>
            </a:pPr>
            <a:r>
              <a:rPr lang="pl-PL" sz="1900">
                <a:solidFill>
                  <a:srgbClr val="7F7D54"/>
                </a:solidFill>
              </a:rPr>
              <a:t>Liczba kolorów:</a:t>
            </a:r>
          </a:p>
          <a:p>
            <a:pPr lvl="0">
              <a:spcAft>
                <a:spcPts val="1030"/>
              </a:spcAft>
              <a:buFont typeface="Gill Sans MT"/>
              <a:buAutoNum type="arabicPeriod"/>
            </a:pPr>
            <a:r>
              <a:rPr lang="pl-PL"/>
              <a:t>SLF osiągnął najlepszy wynik (11.7 kolorów), demonstrując swoją efektywność w minimalizacji liczby kolorów.</a:t>
            </a:r>
          </a:p>
          <a:p>
            <a:pPr lvl="0">
              <a:spcAft>
                <a:spcPts val="1030"/>
              </a:spcAft>
              <a:buFont typeface="Gill Sans MT"/>
              <a:buAutoNum type="arabicPeriod"/>
            </a:pPr>
            <a:r>
              <a:rPr lang="pl-PL"/>
              <a:t>LF uzyskał średnio 12.85 kolorów, podczas gdy SL - 13.25 kolorów, co pokazuje, że kolejność przetwarzania wierzchołków ma znaczący wpływ na jakość kolorowania.</a:t>
            </a:r>
          </a:p>
          <a:p>
            <a:pPr lvl="0">
              <a:spcAft>
                <a:spcPts val="1030"/>
              </a:spcAft>
              <a:buFont typeface="Gill Sans MT"/>
              <a:buAutoNum type="arabicPeriod"/>
            </a:pPr>
            <a:r>
              <a:rPr lang="pl-PL"/>
              <a:t>Brak wyników dla Brute Force i Backtracking.</a:t>
            </a:r>
          </a:p>
          <a:p>
            <a:pPr marL="0" lvl="0" indent="0">
              <a:lnSpc>
                <a:spcPts val="2145"/>
              </a:lnSpc>
              <a:spcBef>
                <a:spcPts val="300"/>
              </a:spcBef>
              <a:spcAft>
                <a:spcPts val="1030"/>
              </a:spcAft>
              <a:buNone/>
            </a:pPr>
            <a:endParaRPr lang="pl-PL">
              <a:solidFill>
                <a:srgbClr val="404040"/>
              </a:solidFill>
              <a:latin typeface="DeepSeek-CJK-patch"/>
            </a:endParaRP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72" y="355088"/>
            <a:ext cx="1088648" cy="1043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2231136" y="290925"/>
            <a:ext cx="7729724" cy="1188720"/>
          </a:xfrm>
        </p:spPr>
        <p:txBody>
          <a:bodyPr/>
          <a:lstStyle/>
          <a:p>
            <a:pPr lvl="0"/>
            <a:r>
              <a:rPr lang="pl-PL"/>
              <a:t>podsumowanie</a:t>
            </a:r>
          </a:p>
        </p:txBody>
      </p:sp>
      <p:sp>
        <p:nvSpPr>
          <p:cNvPr id="3" name="Symbol zastępczy zawartości 2"/>
          <p:cNvSpPr txBox="1">
            <a:spLocks noGrp="1"/>
          </p:cNvSpPr>
          <p:nvPr>
            <p:ph idx="1"/>
          </p:nvPr>
        </p:nvSpPr>
        <p:spPr>
          <a:xfrm>
            <a:off x="0" y="1611986"/>
            <a:ext cx="12191996" cy="5175311"/>
          </a:xfrm>
        </p:spPr>
        <p:txBody>
          <a:bodyPr/>
          <a:lstStyle/>
          <a:p>
            <a:pPr lvl="0">
              <a:spcAft>
                <a:spcPts val="1030"/>
              </a:spcAft>
            </a:pPr>
            <a:r>
              <a:rPr lang="pl-PL" sz="2800"/>
              <a:t>Algorytmy zachłanne - to najszybsze rozwiązania, doskonale radzą sobie z dużymi grafami ale nie gwarantują użycia minimalnej liczby kolorów.</a:t>
            </a:r>
          </a:p>
          <a:p>
            <a:pPr lvl="0">
              <a:spcAft>
                <a:spcPts val="1030"/>
              </a:spcAft>
            </a:pPr>
            <a:r>
              <a:rPr lang="pl-PL" sz="2800"/>
              <a:t>Algorytm Brute Force- zawsze znajduje optymalne rozwiązanie, jednak nie nadaje się do użycia już dla grafów większych niż 16 wierzchołków.</a:t>
            </a:r>
          </a:p>
          <a:p>
            <a:pPr lvl="0">
              <a:spcAft>
                <a:spcPts val="1030"/>
              </a:spcAft>
            </a:pPr>
            <a:r>
              <a:rPr lang="pl-PL" sz="2800"/>
              <a:t>Metoda Backtracking- znajduje rozwiązania porównywalne do metod zachłannych natomiast wymaga ograniczenia do grafów o 30 wierzchołkach.</a:t>
            </a:r>
          </a:p>
          <a:p>
            <a:pPr lvl="0">
              <a:spcAft>
                <a:spcPts val="1030"/>
              </a:spcAft>
            </a:pPr>
            <a:r>
              <a:rPr lang="pl-PL" sz="2800"/>
              <a:t>Algorytm SLF- oferuje lepszą jakość kolorowania niż inne metody zachłanne, jednak czas wykonania znacząco rośnie wraz z rozmiarem grafu</a:t>
            </a:r>
          </a:p>
          <a:p>
            <a:pPr marL="0" lvl="0" indent="0">
              <a:lnSpc>
                <a:spcPts val="2145"/>
              </a:lnSpc>
              <a:spcBef>
                <a:spcPts val="300"/>
              </a:spcBef>
              <a:spcAft>
                <a:spcPts val="1030"/>
              </a:spcAft>
              <a:buNone/>
            </a:pPr>
            <a:endParaRPr lang="pl-PL">
              <a:solidFill>
                <a:srgbClr val="404040"/>
              </a:solidFill>
              <a:latin typeface="DeepSeek-CJK-patch"/>
            </a:endParaRP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72" y="355088"/>
            <a:ext cx="1088648" cy="1043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3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pl-PL"/>
              <a:t>Dziękujemy za uwagę</a:t>
            </a:r>
          </a:p>
        </p:txBody>
      </p:sp>
      <p:sp>
        <p:nvSpPr>
          <p:cNvPr id="3" name="Podtytuł 4"/>
          <p:cNvSpPr txBox="1">
            <a:spLocks noGrp="1"/>
          </p:cNvSpPr>
          <p:nvPr>
            <p:ph type="subTitle" idx="1"/>
          </p:nvPr>
        </p:nvSpPr>
        <p:spPr>
          <a:xfrm>
            <a:off x="8257882" y="5238661"/>
            <a:ext cx="3482501" cy="1239889"/>
          </a:xfrm>
        </p:spPr>
        <p:txBody>
          <a:bodyPr/>
          <a:lstStyle/>
          <a:p>
            <a:pPr lvl="0"/>
            <a:r>
              <a:rPr lang="pl-PL"/>
              <a:t>Wiktoria Nyklewicz 176842,</a:t>
            </a:r>
          </a:p>
          <a:p>
            <a:pPr lvl="0"/>
            <a:r>
              <a:rPr lang="pl-PL"/>
              <a:t>Kacper Lis 176828</a:t>
            </a:r>
          </a:p>
        </p:txBody>
      </p:sp>
      <p:pic>
        <p:nvPicPr>
          <p:cNvPr id="4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07" y="131545"/>
            <a:ext cx="2038545" cy="195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Python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6672" y="4377497"/>
            <a:ext cx="2192008" cy="2101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braz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680" y="5280934"/>
            <a:ext cx="1088648" cy="1043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 descr="Python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5044" y="375452"/>
            <a:ext cx="1278980" cy="1225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czka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TM10001115%5b%5bfn=Paczka%5d%5d</Template>
  <TotalTime>3013</TotalTime>
  <Words>1029</Words>
  <Application>Microsoft Office PowerPoint</Application>
  <PresentationFormat>Pokaz na ekranie (4:3)</PresentationFormat>
  <Paragraphs>176</Paragraphs>
  <Slides>21</Slides>
  <Notes>3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2" baseType="lpstr">
      <vt:lpstr>Paczka</vt:lpstr>
      <vt:lpstr>Kolorowanie grafów</vt:lpstr>
      <vt:lpstr>Wstęp teoretyczny</vt:lpstr>
      <vt:lpstr>Rodzaje analizowanych algorytmów</vt:lpstr>
      <vt:lpstr>Problem kolorowania grafów</vt:lpstr>
      <vt:lpstr>Largest First (LF)</vt:lpstr>
      <vt:lpstr>Smallest Last (SL)</vt:lpstr>
      <vt:lpstr>Saturation Largest First (SLF / DSATUR)</vt:lpstr>
      <vt:lpstr>Brute Force</vt:lpstr>
      <vt:lpstr>Backtracking</vt:lpstr>
      <vt:lpstr>Działanie pętli Algorytmów zachłannych</vt:lpstr>
      <vt:lpstr>Działanie pętli Algorytmów zachłannych</vt:lpstr>
      <vt:lpstr>Działanie pętli Algorytmów Dokładnych</vt:lpstr>
      <vt:lpstr>Działanie pętli Algorytmów Dokładnych</vt:lpstr>
      <vt:lpstr>Wyniki Programu kolorującego grafy</vt:lpstr>
      <vt:lpstr>Analiza problemu kolorowania grafów przy pomocy Algorytmów zachłannych</vt:lpstr>
      <vt:lpstr>wyniki dla grafów z 12 wierzchołkami przy 20 próbach</vt:lpstr>
      <vt:lpstr>Wnioski dla grafów z 12 wierzchołkami przy 20 próbach</vt:lpstr>
      <vt:lpstr>wyniki dla grafów z 100  wierzchołkami przy 20 próbach</vt:lpstr>
      <vt:lpstr>Wnioski dla grafów z 100 wierzchołkami przy 20 próbach</vt:lpstr>
      <vt:lpstr>podsumowanie</vt:lpstr>
      <vt:lpstr>Dziękujemy za uwagę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Kolorowanie grafów</dc:title>
  <dc:creator>wiktoria nyklewicz</dc:creator>
  <cp:lastModifiedBy>Kacper Lis</cp:lastModifiedBy>
  <cp:revision>16</cp:revision>
  <dcterms:created xsi:type="dcterms:W3CDTF">2025-05-19T23:07:19Z</dcterms:created>
  <dcterms:modified xsi:type="dcterms:W3CDTF">2025-05-26T17:53:44Z</dcterms:modified>
</cp:coreProperties>
</file>